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1763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60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46291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57B9D"/>
                </a:solidFill>
              </a:rPr>
              <a:t>Nov 2025</a:t>
            </a: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428625" y="885825"/>
            <a:ext cx="4629150" cy="2194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-1" dirty="0">
                <a:solidFill>
                  <a:srgbClr val="1A1A1A"/>
                </a:solidFill>
              </a:rPr>
              <a:t>Category review: Chips - Strategic Growth &amp; Trial Evaluation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428625" y="3223171"/>
            <a:ext cx="4629150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333333"/>
                </a:solidFill>
              </a:rPr>
              <a:t>Insights and Recommendations for the Next Half-Year Strategy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4031810"/>
            <a:ext cx="46291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Retail Analytics, Elias Tarekegn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4674747"/>
            <a:ext cx="1510038" cy="3571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20387" y="4881916"/>
            <a:ext cx="13373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Classification: Confidential</a:t>
            </a:r>
            <a:endParaRPr lang="en-US" sz="727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0"/>
            <a:ext cx="3657600" cy="8651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30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A Dual Growth Strategy is Recommended to Maximize Volume and Margin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011538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457B9D"/>
                </a:solidFill>
              </a:rPr>
              <a:t>Strategic Growth (Task 1)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428625" y="1218707"/>
            <a:ext cx="40005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Older Families and Retirees are the volume engine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428625" y="1450153"/>
            <a:ext cx="40005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Maximize Volume:</a:t>
            </a:r>
            <a:r>
              <a:rPr lang="en-US" sz="727" dirty="0">
                <a:solidFill>
                  <a:srgbClr val="333333"/>
                </a:solidFill>
              </a:rPr>
              <a:t> Focus on retention and loyalty programs for high-spending, loyal segments.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428625" y="2185960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457B9D"/>
                </a:solidFill>
              </a:rPr>
              <a:t>Strategic Growth (Task 1)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428625" y="2393128"/>
            <a:ext cx="40005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Young Singles/Couples show premium preferences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428625" y="2624575"/>
            <a:ext cx="40005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Accelerate Margin:</a:t>
            </a:r>
            <a:r>
              <a:rPr lang="en-US" sz="727" dirty="0">
                <a:solidFill>
                  <a:srgbClr val="333333"/>
                </a:solidFill>
              </a:rPr>
              <a:t> Target this segment with premium products to capitalize on their willingness to spend.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428625" y="3360381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457B9D"/>
                </a:solidFill>
              </a:rPr>
              <a:t>Trial Evaluation (Task 2)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428625" y="3567550"/>
            <a:ext cx="40005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Trials show clear positive impact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428625" y="3798996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Validate and Scale:</a:t>
            </a:r>
            <a:r>
              <a:rPr lang="en-US" sz="727" dirty="0">
                <a:solidFill>
                  <a:srgbClr val="333333"/>
                </a:solidFill>
              </a:rPr>
              <a:t> Confirm the trial's effectiveness in driving customer acquisition.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428625" y="4384784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457B9D"/>
                </a:solidFill>
              </a:rPr>
              <a:t>Trial Evaluation (Task 2)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428625" y="4591952"/>
            <a:ext cx="40005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Store 88 baseline concern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428625" y="4823399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Caution:</a:t>
            </a:r>
            <a:r>
              <a:rPr lang="en-US" sz="727" dirty="0">
                <a:solidFill>
                  <a:srgbClr val="333333"/>
                </a:solidFill>
              </a:rPr>
              <a:t> Rigorous control store selection is critical for accurate measurement.</a:t>
            </a:r>
            <a:endParaRPr lang="en-US" sz="683" dirty="0"/>
          </a:p>
        </p:txBody>
      </p:sp>
      <p:sp>
        <p:nvSpPr>
          <p:cNvPr id="16" name="Shape 13"/>
          <p:cNvSpPr/>
          <p:nvPr/>
        </p:nvSpPr>
        <p:spPr>
          <a:xfrm>
            <a:off x="4718447" y="1015110"/>
            <a:ext cx="3993356" cy="3071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4718447" y="1015110"/>
            <a:ext cx="720849" cy="307181"/>
          </a:xfrm>
          <a:prstGeom prst="rect">
            <a:avLst/>
          </a:prstGeom>
          <a:solidFill>
            <a:srgbClr val="F5F5F5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18447" y="1015110"/>
            <a:ext cx="720849" cy="307181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Area</a:t>
            </a:r>
            <a:endParaRPr lang="en-US" sz="584" dirty="0"/>
          </a:p>
        </p:txBody>
      </p:sp>
      <p:sp>
        <p:nvSpPr>
          <p:cNvPr id="19" name="Shape 16"/>
          <p:cNvSpPr/>
          <p:nvPr/>
        </p:nvSpPr>
        <p:spPr>
          <a:xfrm>
            <a:off x="5439296" y="1015110"/>
            <a:ext cx="1652271" cy="307181"/>
          </a:xfrm>
          <a:prstGeom prst="rect">
            <a:avLst/>
          </a:prstGeom>
          <a:solidFill>
            <a:srgbClr val="F5F5F5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39296" y="1015110"/>
            <a:ext cx="1652271" cy="307181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Key Insight</a:t>
            </a:r>
            <a:endParaRPr lang="en-US" sz="584" dirty="0"/>
          </a:p>
        </p:txBody>
      </p:sp>
      <p:sp>
        <p:nvSpPr>
          <p:cNvPr id="21" name="Shape 18"/>
          <p:cNvSpPr/>
          <p:nvPr/>
        </p:nvSpPr>
        <p:spPr>
          <a:xfrm>
            <a:off x="7091567" y="1015110"/>
            <a:ext cx="1620236" cy="307181"/>
          </a:xfrm>
          <a:prstGeom prst="rect">
            <a:avLst/>
          </a:prstGeom>
          <a:solidFill>
            <a:srgbClr val="F5F5F5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91567" y="1015110"/>
            <a:ext cx="1620236" cy="307181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Recommendation</a:t>
            </a:r>
            <a:endParaRPr lang="en-US" sz="584" dirty="0"/>
          </a:p>
        </p:txBody>
      </p:sp>
      <p:sp>
        <p:nvSpPr>
          <p:cNvPr id="23" name="Shape 20"/>
          <p:cNvSpPr/>
          <p:nvPr/>
        </p:nvSpPr>
        <p:spPr>
          <a:xfrm>
            <a:off x="4718447" y="1315148"/>
            <a:ext cx="3993356" cy="43861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4793456" y="1411588"/>
            <a:ext cx="385790" cy="246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Strategic Growth</a:t>
            </a:r>
            <a:endParaRPr lang="en-US" sz="584" dirty="0"/>
          </a:p>
        </p:txBody>
      </p:sp>
      <p:sp>
        <p:nvSpPr>
          <p:cNvPr id="25" name="Text 22"/>
          <p:cNvSpPr/>
          <p:nvPr/>
        </p:nvSpPr>
        <p:spPr>
          <a:xfrm>
            <a:off x="5439714" y="1315148"/>
            <a:ext cx="1653973" cy="43861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Older Families &amp; Retirees drive 70% of revenue</a:t>
            </a:r>
            <a:endParaRPr lang="en-US" sz="674" dirty="0"/>
          </a:p>
        </p:txBody>
      </p:sp>
      <p:sp>
        <p:nvSpPr>
          <p:cNvPr id="26" name="Text 23"/>
          <p:cNvSpPr/>
          <p:nvPr/>
        </p:nvSpPr>
        <p:spPr>
          <a:xfrm>
            <a:off x="7093688" y="1315148"/>
            <a:ext cx="1618115" cy="43861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Maximize Volume via loyalty programs</a:t>
            </a:r>
            <a:endParaRPr lang="en-US" sz="674" dirty="0"/>
          </a:p>
        </p:txBody>
      </p:sp>
      <p:sp>
        <p:nvSpPr>
          <p:cNvPr id="27" name="Shape 24"/>
          <p:cNvSpPr/>
          <p:nvPr/>
        </p:nvSpPr>
        <p:spPr>
          <a:xfrm>
            <a:off x="4718447" y="1753763"/>
            <a:ext cx="3993356" cy="438615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5"/>
          <p:cNvSpPr/>
          <p:nvPr/>
        </p:nvSpPr>
        <p:spPr>
          <a:xfrm>
            <a:off x="4793456" y="1850203"/>
            <a:ext cx="385790" cy="246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Strategic Growth</a:t>
            </a:r>
            <a:endParaRPr lang="en-US" sz="584" dirty="0"/>
          </a:p>
        </p:txBody>
      </p:sp>
      <p:sp>
        <p:nvSpPr>
          <p:cNvPr id="29" name="Text 26"/>
          <p:cNvSpPr/>
          <p:nvPr/>
        </p:nvSpPr>
        <p:spPr>
          <a:xfrm>
            <a:off x="5439714" y="1753763"/>
            <a:ext cx="1653973" cy="43861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Young Singles/Couples prefer premium</a:t>
            </a:r>
            <a:endParaRPr lang="en-US" sz="674" dirty="0"/>
          </a:p>
        </p:txBody>
      </p:sp>
      <p:sp>
        <p:nvSpPr>
          <p:cNvPr id="30" name="Text 27"/>
          <p:cNvSpPr/>
          <p:nvPr/>
        </p:nvSpPr>
        <p:spPr>
          <a:xfrm>
            <a:off x="7093688" y="1753763"/>
            <a:ext cx="1618115" cy="43861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Accelerate Margin via premium products</a:t>
            </a:r>
            <a:endParaRPr lang="en-US" sz="674" dirty="0"/>
          </a:p>
        </p:txBody>
      </p:sp>
      <p:sp>
        <p:nvSpPr>
          <p:cNvPr id="31" name="Shape 28"/>
          <p:cNvSpPr/>
          <p:nvPr/>
        </p:nvSpPr>
        <p:spPr>
          <a:xfrm>
            <a:off x="4718447" y="2192378"/>
            <a:ext cx="3993356" cy="43861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9"/>
          <p:cNvSpPr/>
          <p:nvPr/>
        </p:nvSpPr>
        <p:spPr>
          <a:xfrm>
            <a:off x="4793456" y="2353810"/>
            <a:ext cx="51161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Trial (77, 86)</a:t>
            </a:r>
            <a:endParaRPr lang="en-US" sz="584" dirty="0"/>
          </a:p>
        </p:txBody>
      </p:sp>
      <p:sp>
        <p:nvSpPr>
          <p:cNvPr id="33" name="Text 30"/>
          <p:cNvSpPr/>
          <p:nvPr/>
        </p:nvSpPr>
        <p:spPr>
          <a:xfrm>
            <a:off x="5439714" y="2192378"/>
            <a:ext cx="1653973" cy="43861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+24.54% and +9.76% sales growth</a:t>
            </a:r>
            <a:endParaRPr lang="en-US" sz="674" dirty="0"/>
          </a:p>
        </p:txBody>
      </p:sp>
      <p:sp>
        <p:nvSpPr>
          <p:cNvPr id="34" name="Text 31"/>
          <p:cNvSpPr/>
          <p:nvPr/>
        </p:nvSpPr>
        <p:spPr>
          <a:xfrm>
            <a:off x="7093688" y="2192378"/>
            <a:ext cx="1618115" cy="43861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Validate and scale customer acquisition</a:t>
            </a:r>
            <a:endParaRPr lang="en-US" sz="674" dirty="0"/>
          </a:p>
        </p:txBody>
      </p:sp>
      <p:sp>
        <p:nvSpPr>
          <p:cNvPr id="35" name="Shape 32"/>
          <p:cNvSpPr/>
          <p:nvPr/>
        </p:nvSpPr>
        <p:spPr>
          <a:xfrm>
            <a:off x="4718447" y="2630993"/>
            <a:ext cx="3993356" cy="438615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6" name="Text 33"/>
          <p:cNvSpPr/>
          <p:nvPr/>
        </p:nvSpPr>
        <p:spPr>
          <a:xfrm>
            <a:off x="4793456" y="2792425"/>
            <a:ext cx="36684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Trial (88)</a:t>
            </a:r>
            <a:endParaRPr lang="en-US" sz="584" dirty="0"/>
          </a:p>
        </p:txBody>
      </p:sp>
      <p:sp>
        <p:nvSpPr>
          <p:cNvPr id="37" name="Text 34"/>
          <p:cNvSpPr/>
          <p:nvPr/>
        </p:nvSpPr>
        <p:spPr>
          <a:xfrm>
            <a:off x="5439714" y="2630993"/>
            <a:ext cx="1653973" cy="43861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+47.95% but baseline differs</a:t>
            </a:r>
            <a:endParaRPr lang="en-US" sz="674" dirty="0"/>
          </a:p>
        </p:txBody>
      </p:sp>
      <p:sp>
        <p:nvSpPr>
          <p:cNvPr id="38" name="Text 35"/>
          <p:cNvSpPr/>
          <p:nvPr/>
        </p:nvSpPr>
        <p:spPr>
          <a:xfrm>
            <a:off x="7093688" y="2630993"/>
            <a:ext cx="1618115" cy="43861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Review control store selection rigorously</a:t>
            </a:r>
            <a:endParaRPr lang="en-US" sz="674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Older Lifestages Dominate the Chip Category Revenue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628650" y="1154413"/>
            <a:ext cx="8086725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457B9D"/>
                </a:solidFill>
              </a:rPr>
              <a:t>Over 70% of Total Chip Revenue</a:t>
            </a:r>
            <a:r>
              <a:rPr lang="en-US" sz="1397" b="1" dirty="0">
                <a:solidFill>
                  <a:srgbClr val="1A1A1A"/>
                </a:solidFill>
              </a:rPr>
              <a:t> is collectively accounted for by Older Families, Retirees, and Older Singles/Couples.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628650" y="2057372"/>
            <a:ext cx="8086725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E63946"/>
                </a:solidFill>
              </a:rPr>
              <a:t>Older Families</a:t>
            </a:r>
            <a:r>
              <a:rPr lang="en-US" sz="1397" b="1" dirty="0">
                <a:solidFill>
                  <a:srgbClr val="1A1A1A"/>
                </a:solidFill>
              </a:rPr>
              <a:t> are the single largest Lifestage contributor, making them the primary volume engine for the category.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628650" y="2960331"/>
            <a:ext cx="8086725" cy="84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457B9D"/>
                </a:solidFill>
              </a:rPr>
              <a:t>Young Singles/Couples</a:t>
            </a:r>
            <a:r>
              <a:rPr lang="en-US" sz="1397" b="1" dirty="0">
                <a:solidFill>
                  <a:srgbClr val="1A1A1A"/>
                </a:solidFill>
              </a:rPr>
              <a:t> represent a large customer base but have a lower average spend compared to older groups, suggesting a significant opportunity in frequency or premiumization.</a:t>
            </a:r>
            <a:endParaRPr lang="en-US" sz="1397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5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Top Performing Segments Drive Volume and Loyalty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368726"/>
            <a:ext cx="24050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63946"/>
                </a:solidFill>
              </a:rPr>
              <a:t>Older Families - Budget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428625" y="1683051"/>
            <a:ext cx="240504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Total Sales</a:t>
            </a:r>
            <a:endParaRPr lang="en-US" sz="634" dirty="0"/>
          </a:p>
        </p:txBody>
      </p:sp>
      <p:sp>
        <p:nvSpPr>
          <p:cNvPr id="6" name="Text 3"/>
          <p:cNvSpPr/>
          <p:nvPr/>
        </p:nvSpPr>
        <p:spPr>
          <a:xfrm>
            <a:off x="428625" y="1865216"/>
            <a:ext cx="2405044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$167,991.15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428625" y="2319542"/>
            <a:ext cx="24050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333333"/>
                </a:solidFill>
              </a:rPr>
              <a:t>Highest Revenue</a:t>
            </a:r>
            <a:endParaRPr lang="en-US" sz="584" dirty="0"/>
          </a:p>
        </p:txBody>
      </p:sp>
      <p:sp>
        <p:nvSpPr>
          <p:cNvPr id="8" name="Text 5"/>
          <p:cNvSpPr/>
          <p:nvPr/>
        </p:nvSpPr>
        <p:spPr>
          <a:xfrm>
            <a:off x="428625" y="2476705"/>
            <a:ext cx="24050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57B9D"/>
                </a:solidFill>
              </a:rPr>
              <a:t>Leads in total sales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428625" y="2791030"/>
            <a:ext cx="24050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333333"/>
                </a:solidFill>
              </a:rPr>
              <a:t>Avg Spend per Customer</a:t>
            </a:r>
            <a:endParaRPr lang="en-US" sz="584" dirty="0"/>
          </a:p>
        </p:txBody>
      </p:sp>
      <p:sp>
        <p:nvSpPr>
          <p:cNvPr id="10" name="Text 7"/>
          <p:cNvSpPr/>
          <p:nvPr/>
        </p:nvSpPr>
        <p:spPr>
          <a:xfrm>
            <a:off x="428625" y="2948192"/>
            <a:ext cx="24050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57B9D"/>
                </a:solidFill>
              </a:rPr>
              <a:t>$35.96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428625" y="3262517"/>
            <a:ext cx="24050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333333"/>
                </a:solidFill>
              </a:rPr>
              <a:t>Purchase Frequency</a:t>
            </a:r>
            <a:endParaRPr lang="en-US" sz="584" dirty="0"/>
          </a:p>
        </p:txBody>
      </p:sp>
      <p:sp>
        <p:nvSpPr>
          <p:cNvPr id="12" name="Text 9"/>
          <p:cNvSpPr/>
          <p:nvPr/>
        </p:nvSpPr>
        <p:spPr>
          <a:xfrm>
            <a:off x="428625" y="3419680"/>
            <a:ext cx="24050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57B9D"/>
                </a:solidFill>
              </a:rPr>
              <a:t>4.96x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428625" y="3876880"/>
            <a:ext cx="2405044" cy="56792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Consistently high average spend and purchase frequency. Highly engaged and loyal customers critical for sustained revenue.</a:t>
            </a:r>
            <a:endParaRPr lang="en-US" sz="674" dirty="0"/>
          </a:p>
        </p:txBody>
      </p:sp>
      <p:sp>
        <p:nvSpPr>
          <p:cNvPr id="14" name="Text 11"/>
          <p:cNvSpPr/>
          <p:nvPr/>
        </p:nvSpPr>
        <p:spPr>
          <a:xfrm>
            <a:off x="3490894" y="1368726"/>
            <a:ext cx="21764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63946"/>
                </a:solidFill>
              </a:rPr>
              <a:t>Young Singles/Couples - Mainstream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3490894" y="1854501"/>
            <a:ext cx="217647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Total Sales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3490894" y="2036666"/>
            <a:ext cx="2176472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$157,410.20</a:t>
            </a:r>
            <a:endParaRPr lang="en-US" sz="1397" dirty="0"/>
          </a:p>
        </p:txBody>
      </p:sp>
      <p:sp>
        <p:nvSpPr>
          <p:cNvPr id="17" name="Text 14"/>
          <p:cNvSpPr/>
          <p:nvPr/>
        </p:nvSpPr>
        <p:spPr>
          <a:xfrm>
            <a:off x="3490894" y="2490992"/>
            <a:ext cx="217647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333333"/>
                </a:solidFill>
              </a:rPr>
              <a:t>Significant Contributor</a:t>
            </a:r>
            <a:endParaRPr lang="en-US" sz="584" dirty="0"/>
          </a:p>
        </p:txBody>
      </p:sp>
      <p:sp>
        <p:nvSpPr>
          <p:cNvPr id="18" name="Text 15"/>
          <p:cNvSpPr/>
          <p:nvPr/>
        </p:nvSpPr>
        <p:spPr>
          <a:xfrm>
            <a:off x="3490894" y="2648155"/>
            <a:ext cx="21764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57B9D"/>
                </a:solidFill>
              </a:rPr>
              <a:t>Second highest in sales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3490894" y="2962480"/>
            <a:ext cx="217647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333333"/>
                </a:solidFill>
              </a:rPr>
              <a:t>Avg Spend per Customer</a:t>
            </a:r>
            <a:endParaRPr lang="en-US" sz="584" dirty="0"/>
          </a:p>
        </p:txBody>
      </p:sp>
      <p:sp>
        <p:nvSpPr>
          <p:cNvPr id="20" name="Text 17"/>
          <p:cNvSpPr/>
          <p:nvPr/>
        </p:nvSpPr>
        <p:spPr>
          <a:xfrm>
            <a:off x="3490894" y="3119642"/>
            <a:ext cx="21764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57B9D"/>
                </a:solidFill>
              </a:rPr>
              <a:t>$34.42</a:t>
            </a:r>
            <a:endParaRPr lang="en-US" sz="987" dirty="0"/>
          </a:p>
        </p:txBody>
      </p:sp>
      <p:sp>
        <p:nvSpPr>
          <p:cNvPr id="21" name="Text 18"/>
          <p:cNvSpPr/>
          <p:nvPr/>
        </p:nvSpPr>
        <p:spPr>
          <a:xfrm>
            <a:off x="3490894" y="3433967"/>
            <a:ext cx="217647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333333"/>
                </a:solidFill>
              </a:rPr>
              <a:t>Purchase Frequency</a:t>
            </a:r>
            <a:endParaRPr lang="en-US" sz="584" dirty="0"/>
          </a:p>
        </p:txBody>
      </p:sp>
      <p:sp>
        <p:nvSpPr>
          <p:cNvPr id="22" name="Text 19"/>
          <p:cNvSpPr/>
          <p:nvPr/>
        </p:nvSpPr>
        <p:spPr>
          <a:xfrm>
            <a:off x="3490894" y="3591130"/>
            <a:ext cx="21764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57B9D"/>
                </a:solidFill>
              </a:rPr>
              <a:t>4.75x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3490894" y="4048330"/>
            <a:ext cx="2176472" cy="56792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Large customer base with regular purchases. Indicates strong market penetration and loyalty potential.</a:t>
            </a:r>
            <a:endParaRPr lang="en-US" sz="674" dirty="0"/>
          </a:p>
        </p:txBody>
      </p:sp>
      <p:sp>
        <p:nvSpPr>
          <p:cNvPr id="24" name="Text 21"/>
          <p:cNvSpPr/>
          <p:nvPr/>
        </p:nvSpPr>
        <p:spPr>
          <a:xfrm>
            <a:off x="6324591" y="1368726"/>
            <a:ext cx="21764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63946"/>
                </a:solidFill>
              </a:rPr>
              <a:t>Retirees - Mainstream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6324591" y="1683051"/>
            <a:ext cx="217644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Total Sales</a:t>
            </a:r>
            <a:endParaRPr lang="en-US" sz="634" dirty="0"/>
          </a:p>
        </p:txBody>
      </p:sp>
      <p:sp>
        <p:nvSpPr>
          <p:cNvPr id="26" name="Text 23"/>
          <p:cNvSpPr/>
          <p:nvPr/>
        </p:nvSpPr>
        <p:spPr>
          <a:xfrm>
            <a:off x="6324591" y="1865216"/>
            <a:ext cx="2176444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$155,510.35</a:t>
            </a:r>
            <a:endParaRPr lang="en-US" sz="1397" dirty="0"/>
          </a:p>
        </p:txBody>
      </p:sp>
      <p:sp>
        <p:nvSpPr>
          <p:cNvPr id="27" name="Text 24"/>
          <p:cNvSpPr/>
          <p:nvPr/>
        </p:nvSpPr>
        <p:spPr>
          <a:xfrm>
            <a:off x="6324591" y="2319542"/>
            <a:ext cx="21764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333333"/>
                </a:solidFill>
              </a:rPr>
              <a:t>High Volume</a:t>
            </a:r>
            <a:endParaRPr lang="en-US" sz="584" dirty="0"/>
          </a:p>
        </p:txBody>
      </p:sp>
      <p:sp>
        <p:nvSpPr>
          <p:cNvPr id="28" name="Text 25"/>
          <p:cNvSpPr/>
          <p:nvPr/>
        </p:nvSpPr>
        <p:spPr>
          <a:xfrm>
            <a:off x="6324591" y="2476705"/>
            <a:ext cx="21764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57B9D"/>
                </a:solidFill>
              </a:rPr>
              <a:t>Key segment for revenue</a:t>
            </a:r>
            <a:endParaRPr lang="en-US" sz="987" dirty="0"/>
          </a:p>
        </p:txBody>
      </p:sp>
      <p:sp>
        <p:nvSpPr>
          <p:cNvPr id="29" name="Text 26"/>
          <p:cNvSpPr/>
          <p:nvPr/>
        </p:nvSpPr>
        <p:spPr>
          <a:xfrm>
            <a:off x="6324591" y="2791030"/>
            <a:ext cx="21764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333333"/>
                </a:solidFill>
              </a:rPr>
              <a:t>Avg Spend per Customer</a:t>
            </a:r>
            <a:endParaRPr lang="en-US" sz="584" dirty="0"/>
          </a:p>
        </p:txBody>
      </p:sp>
      <p:sp>
        <p:nvSpPr>
          <p:cNvPr id="30" name="Text 27"/>
          <p:cNvSpPr/>
          <p:nvPr/>
        </p:nvSpPr>
        <p:spPr>
          <a:xfrm>
            <a:off x="6324591" y="2948192"/>
            <a:ext cx="21764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57B9D"/>
                </a:solidFill>
              </a:rPr>
              <a:t>$34.56</a:t>
            </a:r>
            <a:endParaRPr lang="en-US" sz="987" dirty="0"/>
          </a:p>
        </p:txBody>
      </p:sp>
      <p:sp>
        <p:nvSpPr>
          <p:cNvPr id="31" name="Text 28"/>
          <p:cNvSpPr/>
          <p:nvPr/>
        </p:nvSpPr>
        <p:spPr>
          <a:xfrm>
            <a:off x="6324591" y="3262517"/>
            <a:ext cx="21764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333333"/>
                </a:solidFill>
              </a:rPr>
              <a:t>Purchase Frequency</a:t>
            </a:r>
            <a:endParaRPr lang="en-US" sz="584" dirty="0"/>
          </a:p>
        </p:txBody>
      </p:sp>
      <p:sp>
        <p:nvSpPr>
          <p:cNvPr id="32" name="Text 29"/>
          <p:cNvSpPr/>
          <p:nvPr/>
        </p:nvSpPr>
        <p:spPr>
          <a:xfrm>
            <a:off x="6324591" y="3419680"/>
            <a:ext cx="21764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57B9D"/>
                </a:solidFill>
              </a:rPr>
              <a:t>4.77x</a:t>
            </a:r>
            <a:endParaRPr lang="en-US" sz="987" dirty="0"/>
          </a:p>
        </p:txBody>
      </p:sp>
      <p:sp>
        <p:nvSpPr>
          <p:cNvPr id="33" name="Text 30"/>
          <p:cNvSpPr/>
          <p:nvPr/>
        </p:nvSpPr>
        <p:spPr>
          <a:xfrm>
            <a:off x="6324591" y="3876880"/>
            <a:ext cx="2176444" cy="56792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Another high-volume segment, highlighting the importance of retired customers to the business sustainability.</a:t>
            </a:r>
            <a:endParaRPr lang="en-US" sz="674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1364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Target Mainstream Young Singles/Couples and Engage New Families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082976"/>
            <a:ext cx="3964781" cy="292894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kern="0" spc="1" dirty="0">
                <a:solidFill>
                  <a:srgbClr val="1A1A1A"/>
                </a:solidFill>
              </a:rPr>
              <a:t>Premium Preference in Mainstream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428625" y="1704482"/>
            <a:ext cx="39647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57B9D"/>
                </a:solidFill>
              </a:rPr>
              <a:t>Midage Singles/Couples - Mainstream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428625" y="1911651"/>
            <a:ext cx="3964781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457B9D"/>
                </a:solidFill>
              </a:rPr>
              <a:t>$3.82</a:t>
            </a:r>
            <a:r>
              <a:rPr lang="en-US" sz="1193" b="1" dirty="0">
                <a:solidFill>
                  <a:srgbClr val="1A1A1A"/>
                </a:solidFill>
              </a:rPr>
              <a:t> avg price per unit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28625" y="2191680"/>
            <a:ext cx="39647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Highest price point among comparable segments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428625" y="2720318"/>
            <a:ext cx="39647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57B9D"/>
                </a:solidFill>
              </a:rPr>
              <a:t>Young Singles/Couples - Mainstream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428625" y="2927486"/>
            <a:ext cx="3964781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457B9D"/>
                </a:solidFill>
              </a:rPr>
              <a:t>$3.77</a:t>
            </a:r>
            <a:r>
              <a:rPr lang="en-US" sz="1193" b="1" dirty="0">
                <a:solidFill>
                  <a:srgbClr val="1A1A1A"/>
                </a:solidFill>
              </a:rPr>
              <a:t> avg price per unit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28625" y="3207516"/>
            <a:ext cx="39647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Strong willingness to spend on higher-value products</a:t>
            </a:r>
            <a:endParaRPr lang="en-US" sz="727" dirty="0"/>
          </a:p>
        </p:txBody>
      </p:sp>
      <p:sp>
        <p:nvSpPr>
          <p:cNvPr id="11" name="Shape 8"/>
          <p:cNvSpPr/>
          <p:nvPr/>
        </p:nvSpPr>
        <p:spPr>
          <a:xfrm>
            <a:off x="428625" y="3764728"/>
            <a:ext cx="3964781" cy="942975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2" name="Shape 9"/>
          <p:cNvSpPr/>
          <p:nvPr/>
        </p:nvSpPr>
        <p:spPr>
          <a:xfrm>
            <a:off x="428625" y="3764728"/>
            <a:ext cx="28575" cy="942975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3907603"/>
            <a:ext cx="36790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Key Opportunity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571500" y="4114772"/>
            <a:ext cx="3679031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Mainstream segments show </a:t>
            </a:r>
            <a:r>
              <a:rPr lang="en-US" sz="683" b="1" dirty="0">
                <a:solidFill>
                  <a:srgbClr val="E63946"/>
                </a:solidFill>
              </a:rPr>
              <a:t>premium product preference</a:t>
            </a:r>
            <a:r>
              <a:rPr lang="en-US" sz="727" dirty="0">
                <a:solidFill>
                  <a:srgbClr val="333333"/>
                </a:solidFill>
              </a:rPr>
              <a:t> compared to Budget and Premium variants, indicating opportunity for </a:t>
            </a:r>
            <a:r>
              <a:rPr lang="en-US" sz="683" b="1" dirty="0">
                <a:solidFill>
                  <a:srgbClr val="E63946"/>
                </a:solidFill>
              </a:rPr>
              <a:t>upselling and margin growth</a:t>
            </a:r>
            <a:r>
              <a:rPr lang="en-US" sz="727" dirty="0">
                <a:solidFill>
                  <a:srgbClr val="333333"/>
                </a:solidFill>
              </a:rPr>
              <a:t>.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4750594" y="1082976"/>
            <a:ext cx="3964781" cy="292894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kern="0" spc="1" dirty="0">
                <a:solidFill>
                  <a:srgbClr val="1A1A1A"/>
                </a:solidFill>
              </a:rPr>
              <a:t>Underperforming Segment: New Families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4750594" y="1704482"/>
            <a:ext cx="39647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57B9D"/>
                </a:solidFill>
              </a:rPr>
              <a:t>Lowest Engagement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4750594" y="1911651"/>
            <a:ext cx="3964781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E63946"/>
                </a:solidFill>
              </a:rPr>
              <a:t>Lowest</a:t>
            </a:r>
            <a:r>
              <a:rPr lang="en-US" sz="1193" b="1" dirty="0">
                <a:solidFill>
                  <a:srgbClr val="1A1A1A"/>
                </a:solidFill>
              </a:rPr>
              <a:t> total sales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4750594" y="2191680"/>
            <a:ext cx="39647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Across Budget, Mainstream, and Premium variants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4750594" y="2720318"/>
            <a:ext cx="39647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57B9D"/>
                </a:solidFill>
              </a:rPr>
              <a:t>Lowest Metrics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4750594" y="2927486"/>
            <a:ext cx="3964781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E63946"/>
                </a:solidFill>
              </a:rPr>
              <a:t>Lowest</a:t>
            </a:r>
            <a:r>
              <a:rPr lang="en-US" sz="1193" b="1" dirty="0">
                <a:solidFill>
                  <a:srgbClr val="1A1A1A"/>
                </a:solidFill>
              </a:rPr>
              <a:t> avg spend &amp; frequency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4750594" y="3207516"/>
            <a:ext cx="39647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Significantly underperforming compared to other lifestages</a:t>
            </a:r>
            <a:endParaRPr lang="en-US" sz="727" dirty="0"/>
          </a:p>
        </p:txBody>
      </p:sp>
      <p:sp>
        <p:nvSpPr>
          <p:cNvPr id="22" name="Shape 19"/>
          <p:cNvSpPr/>
          <p:nvPr/>
        </p:nvSpPr>
        <p:spPr>
          <a:xfrm>
            <a:off x="4750594" y="3764728"/>
            <a:ext cx="3964781" cy="942975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3" name="Shape 20"/>
          <p:cNvSpPr/>
          <p:nvPr/>
        </p:nvSpPr>
        <p:spPr>
          <a:xfrm>
            <a:off x="4750594" y="3764728"/>
            <a:ext cx="28575" cy="942975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4" name="Text 21"/>
          <p:cNvSpPr/>
          <p:nvPr/>
        </p:nvSpPr>
        <p:spPr>
          <a:xfrm>
            <a:off x="4893469" y="3907603"/>
            <a:ext cx="36790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Strategic Focus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4893469" y="4114772"/>
            <a:ext cx="3679031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Develop </a:t>
            </a:r>
            <a:r>
              <a:rPr lang="en-US" sz="683" b="1" dirty="0">
                <a:solidFill>
                  <a:srgbClr val="E63946"/>
                </a:solidFill>
              </a:rPr>
              <a:t>tailored campaigns</a:t>
            </a:r>
            <a:r>
              <a:rPr lang="en-US" sz="727" dirty="0">
                <a:solidFill>
                  <a:srgbClr val="333333"/>
                </a:solidFill>
              </a:rPr>
              <a:t> for New Families with family-sized products, introductory offers, and promotional bundles to </a:t>
            </a:r>
            <a:r>
              <a:rPr lang="en-US" sz="683" b="1" dirty="0">
                <a:solidFill>
                  <a:srgbClr val="E63946"/>
                </a:solidFill>
              </a:rPr>
              <a:t>increase engagement and basket size</a:t>
            </a:r>
            <a:r>
              <a:rPr lang="en-US" sz="727" dirty="0">
                <a:solidFill>
                  <a:srgbClr val="333333"/>
                </a:solidFill>
              </a:rPr>
              <a:t>.</a:t>
            </a:r>
            <a:endParaRPr lang="en-US" sz="727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4750594" y="4993453"/>
            <a:ext cx="714375" cy="714375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Focus on Retention, Premiumization, and Targeted Acquisition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082976"/>
            <a:ext cx="5715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862" b="1" dirty="0">
                <a:solidFill>
                  <a:srgbClr val="E63946"/>
                </a:solidFill>
              </a:rPr>
              <a:t>1</a:t>
            </a:r>
            <a:endParaRPr lang="en-US" sz="2862" dirty="0"/>
          </a:p>
        </p:txBody>
      </p:sp>
      <p:sp>
        <p:nvSpPr>
          <p:cNvPr id="5" name="Text 2"/>
          <p:cNvSpPr/>
          <p:nvPr/>
        </p:nvSpPr>
        <p:spPr>
          <a:xfrm>
            <a:off x="1214438" y="1082976"/>
            <a:ext cx="75009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57B9D"/>
                </a:solidFill>
              </a:rPr>
              <a:t>Retention &amp; Loyalty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1214438" y="1347295"/>
            <a:ext cx="75009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Focus on Retention and Loyalty Programs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1214438" y="1618757"/>
            <a:ext cx="75009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E63946"/>
                </a:solidFill>
              </a:rPr>
              <a:t>Target:</a:t>
            </a:r>
            <a:r>
              <a:rPr lang="en-US" sz="780" dirty="0">
                <a:solidFill>
                  <a:srgbClr val="333333"/>
                </a:solidFill>
              </a:rPr>
              <a:t> Older Families and Retirees. </a:t>
            </a:r>
            <a:r>
              <a:rPr lang="en-US" sz="734" b="1" dirty="0">
                <a:solidFill>
                  <a:srgbClr val="E63946"/>
                </a:solidFill>
              </a:rPr>
              <a:t>Goal:</a:t>
            </a:r>
            <a:r>
              <a:rPr lang="en-US" sz="780" dirty="0">
                <a:solidFill>
                  <a:srgbClr val="333333"/>
                </a:solidFill>
              </a:rPr>
              <a:t> Maintain their high engagement and spend, securing the category's volume base.</a:t>
            </a:r>
            <a:endParaRPr lang="en-US" sz="734" dirty="0"/>
          </a:p>
        </p:txBody>
      </p:sp>
      <p:sp>
        <p:nvSpPr>
          <p:cNvPr id="8" name="Text 5"/>
          <p:cNvSpPr/>
          <p:nvPr/>
        </p:nvSpPr>
        <p:spPr>
          <a:xfrm>
            <a:off x="428625" y="2040238"/>
            <a:ext cx="5715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862" b="1" dirty="0">
                <a:solidFill>
                  <a:srgbClr val="E63946"/>
                </a:solidFill>
              </a:rPr>
              <a:t>2</a:t>
            </a:r>
            <a:endParaRPr lang="en-US" sz="2862" dirty="0"/>
          </a:p>
        </p:txBody>
      </p:sp>
      <p:sp>
        <p:nvSpPr>
          <p:cNvPr id="9" name="Text 6"/>
          <p:cNvSpPr/>
          <p:nvPr/>
        </p:nvSpPr>
        <p:spPr>
          <a:xfrm>
            <a:off x="1214438" y="2040238"/>
            <a:ext cx="75009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57B9D"/>
                </a:solidFill>
              </a:rPr>
              <a:t>Premiumization Strategy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1214438" y="2304557"/>
            <a:ext cx="75009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Investigate and Promote Higher-Value Products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1214438" y="2576020"/>
            <a:ext cx="75009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E63946"/>
                </a:solidFill>
              </a:rPr>
              <a:t>Target:</a:t>
            </a:r>
            <a:r>
              <a:rPr lang="en-US" sz="780" dirty="0">
                <a:solidFill>
                  <a:srgbClr val="333333"/>
                </a:solidFill>
              </a:rPr>
              <a:t> Mainstream Midage and Young Singles/Couples. </a:t>
            </a:r>
            <a:r>
              <a:rPr lang="en-US" sz="734" b="1" dirty="0">
                <a:solidFill>
                  <a:srgbClr val="E63946"/>
                </a:solidFill>
              </a:rPr>
              <a:t>Goal:</a:t>
            </a:r>
            <a:r>
              <a:rPr lang="en-US" sz="780" dirty="0">
                <a:solidFill>
                  <a:srgbClr val="333333"/>
                </a:solidFill>
              </a:rPr>
              <a:t> Capitalize on their preference for higher-priced items to accelerate margin growth.</a:t>
            </a:r>
            <a:endParaRPr lang="en-US" sz="734" dirty="0"/>
          </a:p>
        </p:txBody>
      </p:sp>
      <p:sp>
        <p:nvSpPr>
          <p:cNvPr id="12" name="Text 9"/>
          <p:cNvSpPr/>
          <p:nvPr/>
        </p:nvSpPr>
        <p:spPr>
          <a:xfrm>
            <a:off x="428625" y="2997501"/>
            <a:ext cx="5715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862" b="1" dirty="0">
                <a:solidFill>
                  <a:srgbClr val="E63946"/>
                </a:solidFill>
              </a:rPr>
              <a:t>3</a:t>
            </a:r>
            <a:endParaRPr lang="en-US" sz="2862" dirty="0"/>
          </a:p>
        </p:txBody>
      </p:sp>
      <p:sp>
        <p:nvSpPr>
          <p:cNvPr id="13" name="Text 10"/>
          <p:cNvSpPr/>
          <p:nvPr/>
        </p:nvSpPr>
        <p:spPr>
          <a:xfrm>
            <a:off x="1214438" y="2997501"/>
            <a:ext cx="75009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57B9D"/>
                </a:solidFill>
              </a:rPr>
              <a:t>Targeted Acquisition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1214438" y="3261820"/>
            <a:ext cx="75009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Develop Tailored Campaigns for New Families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1214438" y="3533282"/>
            <a:ext cx="75009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E63946"/>
                </a:solidFill>
              </a:rPr>
              <a:t>Target:</a:t>
            </a:r>
            <a:r>
              <a:rPr lang="en-US" sz="780" dirty="0">
                <a:solidFill>
                  <a:srgbClr val="333333"/>
                </a:solidFill>
              </a:rPr>
              <a:t> New Families (Budget, Mainstream, Premium). </a:t>
            </a:r>
            <a:r>
              <a:rPr lang="en-US" sz="734" b="1" dirty="0">
                <a:solidFill>
                  <a:srgbClr val="E63946"/>
                </a:solidFill>
              </a:rPr>
              <a:t>Goal:</a:t>
            </a:r>
            <a:r>
              <a:rPr lang="en-US" sz="780" dirty="0">
                <a:solidFill>
                  <a:srgbClr val="333333"/>
                </a:solidFill>
              </a:rPr>
              <a:t> Address low engagement with relevant promotions or product bundles (e.g., family-sized products).</a:t>
            </a:r>
            <a:endParaRPr lang="en-US" sz="734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4000500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Trial Effectiveness Driven by Increased Customer Count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308702"/>
            <a:ext cx="40005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kern="0" spc="1" dirty="0">
                <a:solidFill>
                  <a:srgbClr val="457B9D"/>
                </a:solidFill>
              </a:rPr>
              <a:t>Objective</a:t>
            </a:r>
            <a:endParaRPr lang="en-US" sz="584" dirty="0"/>
          </a:p>
        </p:txBody>
      </p:sp>
      <p:sp>
        <p:nvSpPr>
          <p:cNvPr id="5" name="Text 2"/>
          <p:cNvSpPr/>
          <p:nvPr/>
        </p:nvSpPr>
        <p:spPr>
          <a:xfrm>
            <a:off x="428625" y="1523014"/>
            <a:ext cx="400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Evaluate the effectiveness of the trial in stores 77, 86, and 88 against selected control stores during the trial period </a:t>
            </a:r>
            <a:r>
              <a:rPr lang="en-US" sz="784" b="1" dirty="0">
                <a:solidFill>
                  <a:srgbClr val="457B9D"/>
                </a:solidFill>
              </a:rPr>
              <a:t>(Feb - Apr 2019)</a:t>
            </a:r>
            <a:r>
              <a:rPr lang="en-US" sz="834" dirty="0">
                <a:solidFill>
                  <a:srgbClr val="333333"/>
                </a:solidFill>
              </a:rPr>
              <a:t>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428625" y="2151664"/>
            <a:ext cx="40005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kern="0" spc="1" dirty="0">
                <a:solidFill>
                  <a:srgbClr val="457B9D"/>
                </a:solidFill>
              </a:rPr>
              <a:t>Trial Stores &amp; Controls</a:t>
            </a:r>
            <a:endParaRPr lang="en-US" sz="584" dirty="0"/>
          </a:p>
        </p:txBody>
      </p:sp>
      <p:sp>
        <p:nvSpPr>
          <p:cNvPr id="7" name="Text 4"/>
          <p:cNvSpPr/>
          <p:nvPr/>
        </p:nvSpPr>
        <p:spPr>
          <a:xfrm>
            <a:off x="428625" y="2365977"/>
            <a:ext cx="4000500" cy="15001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Store 77 vs. Control Store 50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428625" y="2587433"/>
            <a:ext cx="4000500" cy="15001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Store 86 vs. Control Store 155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428625" y="2808889"/>
            <a:ext cx="4000500" cy="15001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Store 88 vs. Control Store 79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428625" y="2365977"/>
            <a:ext cx="4026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E63946"/>
                </a:solidFill>
              </a:rPr>
              <a:t>•</a:t>
            </a:r>
            <a:endParaRPr lang="en-US" sz="734" dirty="0"/>
          </a:p>
        </p:txBody>
      </p:sp>
      <p:sp>
        <p:nvSpPr>
          <p:cNvPr id="11" name="Text 8"/>
          <p:cNvSpPr/>
          <p:nvPr/>
        </p:nvSpPr>
        <p:spPr>
          <a:xfrm>
            <a:off x="428625" y="2587433"/>
            <a:ext cx="4026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E63946"/>
                </a:solidFill>
              </a:rPr>
              <a:t>•</a:t>
            </a:r>
            <a:endParaRPr lang="en-US" sz="734" dirty="0"/>
          </a:p>
        </p:txBody>
      </p:sp>
      <p:sp>
        <p:nvSpPr>
          <p:cNvPr id="12" name="Text 9"/>
          <p:cNvSpPr/>
          <p:nvPr/>
        </p:nvSpPr>
        <p:spPr>
          <a:xfrm>
            <a:off x="428625" y="2808889"/>
            <a:ext cx="4026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E63946"/>
                </a:solidFill>
              </a:rPr>
              <a:t>•</a:t>
            </a:r>
            <a:endParaRPr lang="en-US" sz="734" dirty="0"/>
          </a:p>
        </p:txBody>
      </p:sp>
      <p:sp>
        <p:nvSpPr>
          <p:cNvPr id="13" name="Text 10"/>
          <p:cNvSpPr/>
          <p:nvPr/>
        </p:nvSpPr>
        <p:spPr>
          <a:xfrm>
            <a:off x="428625" y="3244658"/>
            <a:ext cx="40005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kern="0" spc="1" dirty="0">
                <a:solidFill>
                  <a:srgbClr val="457B9D"/>
                </a:solidFill>
              </a:rPr>
              <a:t>Overall Conclusion</a:t>
            </a:r>
            <a:endParaRPr lang="en-US" sz="584" dirty="0"/>
          </a:p>
        </p:txBody>
      </p:sp>
      <p:sp>
        <p:nvSpPr>
          <p:cNvPr id="14" name="Text 11"/>
          <p:cNvSpPr/>
          <p:nvPr/>
        </p:nvSpPr>
        <p:spPr>
          <a:xfrm>
            <a:off x="428625" y="3458970"/>
            <a:ext cx="4000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The trial is </a:t>
            </a:r>
            <a:r>
              <a:rPr lang="en-US" sz="784" b="1" dirty="0">
                <a:solidFill>
                  <a:srgbClr val="E63946"/>
                </a:solidFill>
              </a:rPr>
              <a:t>effective in driving sales</a:t>
            </a:r>
            <a:r>
              <a:rPr lang="en-US" sz="834" dirty="0">
                <a:solidFill>
                  <a:srgbClr val="333333"/>
                </a:solidFill>
              </a:rPr>
              <a:t>, primarily by </a:t>
            </a:r>
            <a:r>
              <a:rPr lang="en-US" sz="784" b="1" dirty="0">
                <a:solidFill>
                  <a:srgbClr val="E63946"/>
                </a:solidFill>
              </a:rPr>
              <a:t>increasing the customer count</a:t>
            </a:r>
            <a:r>
              <a:rPr lang="en-US" sz="834" dirty="0">
                <a:solidFill>
                  <a:srgbClr val="333333"/>
                </a:solidFill>
              </a:rPr>
              <a:t> in the trial stores. The sales increase in successful stores was mainly driven by a significant increase in unique customers, with average transactions per customer remaining stable or slightly decreasing.</a:t>
            </a:r>
            <a:endParaRPr lang="en-US" sz="834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0101" y="785813"/>
            <a:ext cx="3950047" cy="2143097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Clear Positive Impact and Valid Baselines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32197" y="1015110"/>
            <a:ext cx="8279606" cy="3357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32197" y="1015110"/>
            <a:ext cx="683009" cy="335756"/>
          </a:xfrm>
          <a:prstGeom prst="rect">
            <a:avLst/>
          </a:prstGeom>
          <a:solidFill>
            <a:srgbClr val="F5F5F5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32197" y="1015110"/>
            <a:ext cx="683009" cy="33575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Store</a:t>
            </a:r>
            <a:endParaRPr lang="en-US" sz="584" dirty="0"/>
          </a:p>
        </p:txBody>
      </p:sp>
      <p:sp>
        <p:nvSpPr>
          <p:cNvPr id="7" name="Shape 4"/>
          <p:cNvSpPr/>
          <p:nvPr/>
        </p:nvSpPr>
        <p:spPr>
          <a:xfrm>
            <a:off x="1110714" y="1015110"/>
            <a:ext cx="1366856" cy="335756"/>
          </a:xfrm>
          <a:prstGeom prst="rect">
            <a:avLst/>
          </a:prstGeom>
          <a:solidFill>
            <a:srgbClr val="F5F5F5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0714" y="1015110"/>
            <a:ext cx="1366856" cy="33575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Control Store</a:t>
            </a:r>
            <a:endParaRPr lang="en-US" sz="584" dirty="0"/>
          </a:p>
        </p:txBody>
      </p:sp>
      <p:sp>
        <p:nvSpPr>
          <p:cNvPr id="9" name="Shape 6"/>
          <p:cNvSpPr/>
          <p:nvPr/>
        </p:nvSpPr>
        <p:spPr>
          <a:xfrm>
            <a:off x="2470175" y="1015110"/>
            <a:ext cx="2379399" cy="335756"/>
          </a:xfrm>
          <a:prstGeom prst="rect">
            <a:avLst/>
          </a:prstGeom>
          <a:solidFill>
            <a:srgbClr val="F5F5F5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70175" y="1015110"/>
            <a:ext cx="2379399" cy="33575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Pre-Trial Baseline (P-Value)</a:t>
            </a:r>
            <a:endParaRPr lang="en-US" sz="584" dirty="0"/>
          </a:p>
        </p:txBody>
      </p:sp>
      <p:sp>
        <p:nvSpPr>
          <p:cNvPr id="11" name="Shape 8"/>
          <p:cNvSpPr/>
          <p:nvPr/>
        </p:nvSpPr>
        <p:spPr>
          <a:xfrm>
            <a:off x="4847313" y="1015110"/>
            <a:ext cx="1212233" cy="335756"/>
          </a:xfrm>
          <a:prstGeom prst="rect">
            <a:avLst/>
          </a:prstGeom>
          <a:solidFill>
            <a:srgbClr val="F5F5F5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7313" y="1015110"/>
            <a:ext cx="1212233" cy="33575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Sales Impact</a:t>
            </a:r>
            <a:endParaRPr lang="en-US" sz="584" dirty="0"/>
          </a:p>
        </p:txBody>
      </p:sp>
      <p:sp>
        <p:nvSpPr>
          <p:cNvPr id="13" name="Shape 10"/>
          <p:cNvSpPr/>
          <p:nvPr/>
        </p:nvSpPr>
        <p:spPr>
          <a:xfrm>
            <a:off x="6057956" y="1015110"/>
            <a:ext cx="2653847" cy="335756"/>
          </a:xfrm>
          <a:prstGeom prst="rect">
            <a:avLst/>
          </a:prstGeom>
          <a:solidFill>
            <a:srgbClr val="F5F5F5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7956" y="1015110"/>
            <a:ext cx="2653847" cy="33575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Primary Driver</a:t>
            </a:r>
            <a:endParaRPr lang="en-US" sz="584" dirty="0"/>
          </a:p>
        </p:txBody>
      </p:sp>
      <p:sp>
        <p:nvSpPr>
          <p:cNvPr id="15" name="Shape 12"/>
          <p:cNvSpPr/>
          <p:nvPr/>
        </p:nvSpPr>
        <p:spPr>
          <a:xfrm>
            <a:off x="432197" y="1343723"/>
            <a:ext cx="8279606" cy="3578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521494" y="1453558"/>
            <a:ext cx="1144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77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1197108" y="1453558"/>
            <a:ext cx="1144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50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2558188" y="1453558"/>
            <a:ext cx="117537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Not statistically different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3733558" y="1453558"/>
            <a:ext cx="3787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457B9D"/>
                </a:solidFill>
              </a:rPr>
              <a:t>(0.0758)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4941829" y="1449093"/>
            <a:ext cx="43356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E63946"/>
                </a:solidFill>
              </a:rPr>
              <a:t>+24.54%</a:t>
            </a:r>
            <a:endParaRPr lang="en-US" sz="734" dirty="0"/>
          </a:p>
        </p:txBody>
      </p:sp>
      <p:sp>
        <p:nvSpPr>
          <p:cNvPr id="21" name="Text 18"/>
          <p:cNvSpPr/>
          <p:nvPr/>
        </p:nvSpPr>
        <p:spPr>
          <a:xfrm>
            <a:off x="6145662" y="1453558"/>
            <a:ext cx="175164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+17.36% increase in customer count</a:t>
            </a:r>
            <a:endParaRPr lang="en-US" sz="683" dirty="0"/>
          </a:p>
        </p:txBody>
      </p:sp>
      <p:sp>
        <p:nvSpPr>
          <p:cNvPr id="22" name="Shape 19"/>
          <p:cNvSpPr/>
          <p:nvPr/>
        </p:nvSpPr>
        <p:spPr>
          <a:xfrm>
            <a:off x="432197" y="1701608"/>
            <a:ext cx="8279606" cy="357885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0"/>
          <p:cNvSpPr/>
          <p:nvPr/>
        </p:nvSpPr>
        <p:spPr>
          <a:xfrm>
            <a:off x="521494" y="1811443"/>
            <a:ext cx="1144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86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1197108" y="1811443"/>
            <a:ext cx="17164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155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2558188" y="1811443"/>
            <a:ext cx="117537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Not statistically different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3733558" y="1811443"/>
            <a:ext cx="3787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457B9D"/>
                </a:solidFill>
              </a:rPr>
              <a:t>(0.4836)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4941829" y="1806978"/>
            <a:ext cx="37228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E63946"/>
                </a:solidFill>
              </a:rPr>
              <a:t>+9.76%</a:t>
            </a:r>
            <a:endParaRPr lang="en-US" sz="734" dirty="0"/>
          </a:p>
        </p:txBody>
      </p:sp>
      <p:sp>
        <p:nvSpPr>
          <p:cNvPr id="28" name="Text 25"/>
          <p:cNvSpPr/>
          <p:nvPr/>
        </p:nvSpPr>
        <p:spPr>
          <a:xfrm>
            <a:off x="6145662" y="1811443"/>
            <a:ext cx="175164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+13.54% increase in customer count</a:t>
            </a:r>
            <a:endParaRPr lang="en-US" sz="683" dirty="0"/>
          </a:p>
        </p:txBody>
      </p:sp>
      <p:sp>
        <p:nvSpPr>
          <p:cNvPr id="29" name="Shape 26"/>
          <p:cNvSpPr/>
          <p:nvPr/>
        </p:nvSpPr>
        <p:spPr>
          <a:xfrm>
            <a:off x="428625" y="2348815"/>
            <a:ext cx="8286750" cy="3286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428625" y="2348815"/>
            <a:ext cx="8286750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Text 28"/>
          <p:cNvSpPr/>
          <p:nvPr/>
        </p:nvSpPr>
        <p:spPr>
          <a:xfrm>
            <a:off x="600075" y="2491690"/>
            <a:ext cx="8115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63946"/>
                </a:solidFill>
              </a:rPr>
              <a:t>Insight:</a:t>
            </a:r>
            <a:r>
              <a:rPr lang="en-US" sz="834" dirty="0">
                <a:solidFill>
                  <a:srgbClr val="333333"/>
                </a:solidFill>
              </a:rPr>
              <a:t> Both stores demonstrate a </a:t>
            </a:r>
            <a:r>
              <a:rPr lang="en-US" sz="784" b="1" dirty="0">
                <a:solidFill>
                  <a:srgbClr val="457B9D"/>
                </a:solidFill>
              </a:rPr>
              <a:t>clear, attributable positive impact</a:t>
            </a:r>
            <a:r>
              <a:rPr lang="en-US" sz="834" dirty="0">
                <a:solidFill>
                  <a:srgbClr val="333333"/>
                </a:solidFill>
              </a:rPr>
              <a:t> from the trial, validating its effectiveness in attracting new customers.</a:t>
            </a:r>
            <a:endParaRPr lang="en-US" sz="784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Highest Growth, but Control Validity is a Concern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32197" y="1015110"/>
            <a:ext cx="3993356" cy="5929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32197" y="1015110"/>
            <a:ext cx="498277" cy="592931"/>
          </a:xfrm>
          <a:prstGeom prst="rect">
            <a:avLst/>
          </a:prstGeom>
          <a:solidFill>
            <a:srgbClr val="F5F5F5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32197" y="1015110"/>
            <a:ext cx="498277" cy="592931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Store</a:t>
            </a:r>
            <a:endParaRPr lang="en-US" sz="584" dirty="0"/>
          </a:p>
        </p:txBody>
      </p:sp>
      <p:sp>
        <p:nvSpPr>
          <p:cNvPr id="7" name="Shape 4"/>
          <p:cNvSpPr/>
          <p:nvPr/>
        </p:nvSpPr>
        <p:spPr>
          <a:xfrm>
            <a:off x="926902" y="1015110"/>
            <a:ext cx="723360" cy="592931"/>
          </a:xfrm>
          <a:prstGeom prst="rect">
            <a:avLst/>
          </a:prstGeom>
          <a:solidFill>
            <a:srgbClr val="F5F5F5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26902" y="1015110"/>
            <a:ext cx="723360" cy="592931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Control Store</a:t>
            </a:r>
            <a:endParaRPr lang="en-US" sz="584" dirty="0"/>
          </a:p>
        </p:txBody>
      </p:sp>
      <p:sp>
        <p:nvSpPr>
          <p:cNvPr id="9" name="Shape 6"/>
          <p:cNvSpPr/>
          <p:nvPr/>
        </p:nvSpPr>
        <p:spPr>
          <a:xfrm>
            <a:off x="1643900" y="1015110"/>
            <a:ext cx="971271" cy="592931"/>
          </a:xfrm>
          <a:prstGeom prst="rect">
            <a:avLst/>
          </a:prstGeom>
          <a:solidFill>
            <a:srgbClr val="F5F5F5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43900" y="1015110"/>
            <a:ext cx="971271" cy="592931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Pre-Trial Baseline (P-Value)</a:t>
            </a:r>
            <a:endParaRPr lang="en-US" sz="584" dirty="0"/>
          </a:p>
        </p:txBody>
      </p:sp>
      <p:sp>
        <p:nvSpPr>
          <p:cNvPr id="11" name="Shape 8"/>
          <p:cNvSpPr/>
          <p:nvPr/>
        </p:nvSpPr>
        <p:spPr>
          <a:xfrm>
            <a:off x="2612603" y="1015110"/>
            <a:ext cx="671345" cy="589359"/>
          </a:xfrm>
          <a:prstGeom prst="rect">
            <a:avLst/>
          </a:prstGeom>
          <a:solidFill>
            <a:srgbClr val="F5F5F5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12603" y="1015110"/>
            <a:ext cx="671345" cy="58935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Sales Impact</a:t>
            </a:r>
            <a:endParaRPr lang="en-US" sz="584" dirty="0"/>
          </a:p>
        </p:txBody>
      </p:sp>
      <p:sp>
        <p:nvSpPr>
          <p:cNvPr id="13" name="Shape 10"/>
          <p:cNvSpPr/>
          <p:nvPr/>
        </p:nvSpPr>
        <p:spPr>
          <a:xfrm>
            <a:off x="3283167" y="1015110"/>
            <a:ext cx="1142386" cy="589359"/>
          </a:xfrm>
          <a:prstGeom prst="rect">
            <a:avLst/>
          </a:prstGeom>
          <a:solidFill>
            <a:srgbClr val="F5F5F5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83167" y="1015110"/>
            <a:ext cx="1142386" cy="58935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Primary Driver</a:t>
            </a:r>
            <a:endParaRPr lang="en-US" sz="584" dirty="0"/>
          </a:p>
        </p:txBody>
      </p:sp>
      <p:sp>
        <p:nvSpPr>
          <p:cNvPr id="15" name="Shape 12"/>
          <p:cNvSpPr/>
          <p:nvPr/>
        </p:nvSpPr>
        <p:spPr>
          <a:xfrm>
            <a:off x="432197" y="1600898"/>
            <a:ext cx="3993356" cy="6325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521494" y="1848055"/>
            <a:ext cx="1144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88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1012627" y="1848055"/>
            <a:ext cx="1144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79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1730378" y="1706268"/>
            <a:ext cx="586178" cy="419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Statistically Different (0.0000)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2702096" y="1843590"/>
            <a:ext cx="43356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E63946"/>
                </a:solidFill>
              </a:rPr>
              <a:t>+47.95%</a:t>
            </a:r>
            <a:endParaRPr lang="en-US" sz="734" dirty="0"/>
          </a:p>
        </p:txBody>
      </p:sp>
      <p:sp>
        <p:nvSpPr>
          <p:cNvPr id="20" name="Text 17"/>
          <p:cNvSpPr/>
          <p:nvPr/>
        </p:nvSpPr>
        <p:spPr>
          <a:xfrm>
            <a:off x="3372073" y="1706268"/>
            <a:ext cx="891239" cy="419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+32.19% customer count, +8.12% transactions</a:t>
            </a:r>
            <a:endParaRPr lang="en-US" sz="683" dirty="0"/>
          </a:p>
        </p:txBody>
      </p:sp>
      <p:sp>
        <p:nvSpPr>
          <p:cNvPr id="21" name="Shape 18"/>
          <p:cNvSpPr/>
          <p:nvPr/>
        </p:nvSpPr>
        <p:spPr>
          <a:xfrm>
            <a:off x="428625" y="2379873"/>
            <a:ext cx="4000500" cy="67865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Shape 19"/>
          <p:cNvSpPr/>
          <p:nvPr/>
        </p:nvSpPr>
        <p:spPr>
          <a:xfrm>
            <a:off x="428625" y="2379873"/>
            <a:ext cx="28575" cy="678656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23" name="Text 20"/>
          <p:cNvSpPr/>
          <p:nvPr/>
        </p:nvSpPr>
        <p:spPr>
          <a:xfrm>
            <a:off x="542925" y="2494173"/>
            <a:ext cx="37719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457B9D"/>
                </a:solidFill>
              </a:rPr>
              <a:t>Key Observation</a:t>
            </a:r>
            <a:endParaRPr lang="en-US" sz="584" dirty="0"/>
          </a:p>
        </p:txBody>
      </p:sp>
      <p:sp>
        <p:nvSpPr>
          <p:cNvPr id="24" name="Text 21"/>
          <p:cNvSpPr/>
          <p:nvPr/>
        </p:nvSpPr>
        <p:spPr>
          <a:xfrm>
            <a:off x="542925" y="2665623"/>
            <a:ext cx="37719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Store 88 shows the </a:t>
            </a:r>
            <a:r>
              <a:rPr lang="en-US" sz="634" b="1" dirty="0">
                <a:solidFill>
                  <a:srgbClr val="E63946"/>
                </a:solidFill>
              </a:rPr>
              <a:t>highest sales growth</a:t>
            </a:r>
            <a:r>
              <a:rPr lang="en-US" sz="674" dirty="0">
                <a:solidFill>
                  <a:srgbClr val="333333"/>
                </a:solidFill>
              </a:rPr>
              <a:t> among all trial stores, driven by both increased customer count and higher transaction values.</a:t>
            </a:r>
            <a:endParaRPr lang="en-US" sz="674" dirty="0"/>
          </a:p>
        </p:txBody>
      </p:sp>
      <p:sp>
        <p:nvSpPr>
          <p:cNvPr id="25" name="Shape 22"/>
          <p:cNvSpPr/>
          <p:nvPr/>
        </p:nvSpPr>
        <p:spPr>
          <a:xfrm>
            <a:off x="4714875" y="1011538"/>
            <a:ext cx="4000500" cy="1478756"/>
          </a:xfrm>
          <a:prstGeom prst="rect">
            <a:avLst/>
          </a:prstGeom>
          <a:solidFill>
            <a:srgbClr val="FFF8F8"/>
          </a:solidFill>
          <a:ln/>
        </p:spPr>
      </p:sp>
      <p:sp>
        <p:nvSpPr>
          <p:cNvPr id="26" name="Shape 23"/>
          <p:cNvSpPr/>
          <p:nvPr/>
        </p:nvSpPr>
        <p:spPr>
          <a:xfrm>
            <a:off x="4714875" y="1011538"/>
            <a:ext cx="42863" cy="147875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7" name="Text 24"/>
          <p:cNvSpPr/>
          <p:nvPr/>
        </p:nvSpPr>
        <p:spPr>
          <a:xfrm>
            <a:off x="4857750" y="1154413"/>
            <a:ext cx="37147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⚠ Critical Concern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4857750" y="1390157"/>
            <a:ext cx="371475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The statistically different pre-trial baseline suggests the </a:t>
            </a:r>
            <a:r>
              <a:rPr lang="en-US" sz="683" b="1" dirty="0">
                <a:solidFill>
                  <a:srgbClr val="E63946"/>
                </a:solidFill>
              </a:rPr>
              <a:t>control store was not an ideal match</a:t>
            </a:r>
            <a:r>
              <a:rPr lang="en-US" sz="727" dirty="0">
                <a:solidFill>
                  <a:srgbClr val="333333"/>
                </a:solidFill>
              </a:rPr>
              <a:t>, potentially </a:t>
            </a:r>
            <a:r>
              <a:rPr lang="en-US" sz="683" b="1" dirty="0">
                <a:solidFill>
                  <a:srgbClr val="E63946"/>
                </a:solidFill>
              </a:rPr>
              <a:t>skewing the interpretation</a:t>
            </a:r>
            <a:r>
              <a:rPr lang="en-US" sz="727" dirty="0">
                <a:solidFill>
                  <a:srgbClr val="333333"/>
                </a:solidFill>
              </a:rPr>
              <a:t> of the high sales impact.</a:t>
            </a:r>
            <a:endParaRPr lang="en-US" sz="727" dirty="0"/>
          </a:p>
        </p:txBody>
      </p:sp>
      <p:sp>
        <p:nvSpPr>
          <p:cNvPr id="29" name="Text 26"/>
          <p:cNvSpPr/>
          <p:nvPr/>
        </p:nvSpPr>
        <p:spPr>
          <a:xfrm>
            <a:off x="4857750" y="1983088"/>
            <a:ext cx="3714750" cy="364331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It's possible that the trial store was already performing significantly better than its chosen control even before the trial began.</a:t>
            </a:r>
            <a:endParaRPr lang="en-US" sz="727" dirty="0"/>
          </a:p>
        </p:txBody>
      </p:sp>
      <p:sp>
        <p:nvSpPr>
          <p:cNvPr id="30" name="Shape 27"/>
          <p:cNvSpPr/>
          <p:nvPr/>
        </p:nvSpPr>
        <p:spPr>
          <a:xfrm>
            <a:off x="4714875" y="2633170"/>
            <a:ext cx="4000500" cy="1071563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9270" y="2704607"/>
            <a:ext cx="1711682" cy="92866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4714875" y="3847607"/>
            <a:ext cx="4000500" cy="67865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3" name="Shape 29"/>
          <p:cNvSpPr/>
          <p:nvPr/>
        </p:nvSpPr>
        <p:spPr>
          <a:xfrm>
            <a:off x="4714875" y="3847607"/>
            <a:ext cx="28575" cy="678656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34" name="Text 30"/>
          <p:cNvSpPr/>
          <p:nvPr/>
        </p:nvSpPr>
        <p:spPr>
          <a:xfrm>
            <a:off x="4829175" y="3961907"/>
            <a:ext cx="37719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457B9D"/>
                </a:solidFill>
              </a:rPr>
              <a:t>Recommendation</a:t>
            </a:r>
            <a:endParaRPr lang="en-US" sz="584" dirty="0"/>
          </a:p>
        </p:txBody>
      </p:sp>
      <p:sp>
        <p:nvSpPr>
          <p:cNvPr id="35" name="Text 31"/>
          <p:cNvSpPr/>
          <p:nvPr/>
        </p:nvSpPr>
        <p:spPr>
          <a:xfrm>
            <a:off x="4829175" y="4133357"/>
            <a:ext cx="37719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Further investigation or </a:t>
            </a:r>
            <a:r>
              <a:rPr lang="en-US" sz="634" b="1" dirty="0">
                <a:solidFill>
                  <a:srgbClr val="457B9D"/>
                </a:solidFill>
              </a:rPr>
              <a:t>alternative control selection</a:t>
            </a:r>
            <a:r>
              <a:rPr lang="en-US" sz="674" dirty="0">
                <a:solidFill>
                  <a:srgbClr val="333333"/>
                </a:solidFill>
              </a:rPr>
              <a:t> is needed to confirm the trial's true, isolated impact in Store 88.</a:t>
            </a:r>
            <a:endParaRPr lang="en-US" sz="674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548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4000500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Dual Strategy and Trial Learnings Will Inform H2 Strategy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237264"/>
            <a:ext cx="40005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kern="0" spc="1" dirty="0">
                <a:solidFill>
                  <a:srgbClr val="457B9D"/>
                </a:solidFill>
              </a:rPr>
              <a:t>Strategic Imperative</a:t>
            </a:r>
            <a:endParaRPr lang="en-US" sz="584" dirty="0"/>
          </a:p>
        </p:txBody>
      </p:sp>
      <p:sp>
        <p:nvSpPr>
          <p:cNvPr id="5" name="Text 2"/>
          <p:cNvSpPr/>
          <p:nvPr/>
        </p:nvSpPr>
        <p:spPr>
          <a:xfrm>
            <a:off x="428625" y="1451577"/>
            <a:ext cx="400050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Implement the </a:t>
            </a:r>
            <a:r>
              <a:rPr lang="en-US" sz="734" b="1" dirty="0">
                <a:solidFill>
                  <a:srgbClr val="E63946"/>
                </a:solidFill>
              </a:rPr>
              <a:t>Dual Growth Strategy</a:t>
            </a:r>
            <a:r>
              <a:rPr lang="en-US" sz="780" dirty="0">
                <a:solidFill>
                  <a:srgbClr val="333333"/>
                </a:solidFill>
              </a:rPr>
              <a:t> to secure volume from loyal older segments and accelerate margin from premium-inclined younger segments.</a:t>
            </a:r>
            <a:endParaRPr lang="en-US" sz="780" dirty="0"/>
          </a:p>
        </p:txBody>
      </p:sp>
      <p:sp>
        <p:nvSpPr>
          <p:cNvPr id="6" name="Text 3"/>
          <p:cNvSpPr/>
          <p:nvPr/>
        </p:nvSpPr>
        <p:spPr>
          <a:xfrm>
            <a:off x="428625" y="1987358"/>
            <a:ext cx="40005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kern="0" spc="1" dirty="0">
                <a:solidFill>
                  <a:srgbClr val="457B9D"/>
                </a:solidFill>
              </a:rPr>
              <a:t>Trial Validation</a:t>
            </a:r>
            <a:endParaRPr lang="en-US" sz="584" dirty="0"/>
          </a:p>
        </p:txBody>
      </p:sp>
      <p:sp>
        <p:nvSpPr>
          <p:cNvPr id="7" name="Text 4"/>
          <p:cNvSpPr/>
          <p:nvPr/>
        </p:nvSpPr>
        <p:spPr>
          <a:xfrm>
            <a:off x="428625" y="2201670"/>
            <a:ext cx="400050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The trial is validated as an </a:t>
            </a:r>
            <a:r>
              <a:rPr lang="en-US" sz="734" b="1" dirty="0">
                <a:solidFill>
                  <a:srgbClr val="457B9D"/>
                </a:solidFill>
              </a:rPr>
              <a:t>effective customer acquisition tool</a:t>
            </a:r>
            <a:r>
              <a:rPr lang="en-US" sz="780" dirty="0">
                <a:solidFill>
                  <a:srgbClr val="333333"/>
                </a:solidFill>
              </a:rPr>
              <a:t>, with a clear positive impact in two of three stores.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428625" y="2894614"/>
            <a:ext cx="40005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kern="0" spc="1" dirty="0">
                <a:solidFill>
                  <a:srgbClr val="457B9D"/>
                </a:solidFill>
              </a:rPr>
              <a:t>Next Steps</a:t>
            </a:r>
            <a:endParaRPr lang="en-US" sz="584" dirty="0"/>
          </a:p>
        </p:txBody>
      </p:sp>
      <p:sp>
        <p:nvSpPr>
          <p:cNvPr id="9" name="Text 6"/>
          <p:cNvSpPr/>
          <p:nvPr/>
        </p:nvSpPr>
        <p:spPr>
          <a:xfrm>
            <a:off x="428625" y="3166077"/>
            <a:ext cx="2857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E63946"/>
                </a:solidFill>
              </a:rPr>
              <a:t>1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828675" y="3166077"/>
            <a:ext cx="36004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Finalize Strategy Implementation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828675" y="3357507"/>
            <a:ext cx="36004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Develop detailed execution plan for the Dual Growth Strategy across all segments.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428625" y="3800419"/>
            <a:ext cx="2857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E63946"/>
                </a:solidFill>
              </a:rPr>
              <a:t>2</a:t>
            </a:r>
            <a:endParaRPr lang="en-US" sz="1397" dirty="0"/>
          </a:p>
        </p:txBody>
      </p:sp>
      <p:sp>
        <p:nvSpPr>
          <p:cNvPr id="13" name="Text 10"/>
          <p:cNvSpPr/>
          <p:nvPr/>
        </p:nvSpPr>
        <p:spPr>
          <a:xfrm>
            <a:off x="828675" y="3800419"/>
            <a:ext cx="36004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Review Control Store Selection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828675" y="3991849"/>
            <a:ext cx="36004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Conduct rigorous review of control store methodology for future trials to ensure valid baseline comparisons.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428625" y="4434762"/>
            <a:ext cx="2857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E63946"/>
                </a:solidFill>
              </a:rPr>
              <a:t>3</a:t>
            </a:r>
            <a:endParaRPr lang="en-US" sz="1397" dirty="0"/>
          </a:p>
        </p:txBody>
      </p:sp>
      <p:sp>
        <p:nvSpPr>
          <p:cNvPr id="16" name="Text 13"/>
          <p:cNvSpPr/>
          <p:nvPr/>
        </p:nvSpPr>
        <p:spPr>
          <a:xfrm>
            <a:off x="828675" y="4434762"/>
            <a:ext cx="36004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Launch New Families Campaigns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828675" y="4626192"/>
            <a:ext cx="36004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Develop and execute targeted campaigns with family-sized products and promotional offers.</a:t>
            </a:r>
            <a:endParaRPr lang="en-US" sz="727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1741429"/>
            <a:ext cx="4000500" cy="9462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Key Metrics from Customer Segmentation Analysis (Task 1)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32197" y="1015110"/>
            <a:ext cx="8279606" cy="4429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32197" y="1015110"/>
            <a:ext cx="1770143" cy="442913"/>
          </a:xfrm>
          <a:prstGeom prst="rect">
            <a:avLst/>
          </a:prstGeom>
          <a:solidFill>
            <a:srgbClr val="1A1A1A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32197" y="1015110"/>
            <a:ext cx="1770143" cy="442913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kern="0" spc="1" dirty="0">
                <a:solidFill>
                  <a:srgbClr val="FFFFFF"/>
                </a:solidFill>
              </a:rPr>
              <a:t>Segment</a:t>
            </a:r>
            <a:endParaRPr lang="en-US" sz="534" dirty="0"/>
          </a:p>
        </p:txBody>
      </p:sp>
      <p:sp>
        <p:nvSpPr>
          <p:cNvPr id="7" name="Shape 4"/>
          <p:cNvSpPr/>
          <p:nvPr/>
        </p:nvSpPr>
        <p:spPr>
          <a:xfrm>
            <a:off x="2202340" y="1015110"/>
            <a:ext cx="915432" cy="442913"/>
          </a:xfrm>
          <a:prstGeom prst="rect">
            <a:avLst/>
          </a:prstGeom>
          <a:solidFill>
            <a:srgbClr val="1A1A1A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02340" y="1015110"/>
            <a:ext cx="915432" cy="442913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kern="0" spc="1" dirty="0">
                <a:solidFill>
                  <a:srgbClr val="FFFFFF"/>
                </a:solidFill>
              </a:rPr>
              <a:t>Total Sales ($)</a:t>
            </a:r>
            <a:endParaRPr lang="en-US" sz="534" dirty="0"/>
          </a:p>
        </p:txBody>
      </p:sp>
      <p:sp>
        <p:nvSpPr>
          <p:cNvPr id="9" name="Shape 6"/>
          <p:cNvSpPr/>
          <p:nvPr/>
        </p:nvSpPr>
        <p:spPr>
          <a:xfrm>
            <a:off x="3115456" y="1015110"/>
            <a:ext cx="1528288" cy="442913"/>
          </a:xfrm>
          <a:prstGeom prst="rect">
            <a:avLst/>
          </a:prstGeom>
          <a:solidFill>
            <a:srgbClr val="1A1A1A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15456" y="1015110"/>
            <a:ext cx="1528288" cy="442913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kern="0" spc="1" dirty="0">
                <a:solidFill>
                  <a:srgbClr val="FFFFFF"/>
                </a:solidFill>
              </a:rPr>
              <a:t>Avg Spend per Customer ($)</a:t>
            </a:r>
            <a:endParaRPr lang="en-US" sz="534" dirty="0"/>
          </a:p>
        </p:txBody>
      </p:sp>
      <p:sp>
        <p:nvSpPr>
          <p:cNvPr id="11" name="Shape 8"/>
          <p:cNvSpPr/>
          <p:nvPr/>
        </p:nvSpPr>
        <p:spPr>
          <a:xfrm>
            <a:off x="4640145" y="1015110"/>
            <a:ext cx="1228502" cy="442913"/>
          </a:xfrm>
          <a:prstGeom prst="rect">
            <a:avLst/>
          </a:prstGeom>
          <a:solidFill>
            <a:srgbClr val="1A1A1A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40145" y="1015110"/>
            <a:ext cx="1228502" cy="442913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kern="0" spc="1" dirty="0">
                <a:solidFill>
                  <a:srgbClr val="FFFFFF"/>
                </a:solidFill>
              </a:rPr>
              <a:t>Purchase Frequency</a:t>
            </a:r>
            <a:endParaRPr lang="en-US" sz="534" dirty="0"/>
          </a:p>
        </p:txBody>
      </p:sp>
      <p:sp>
        <p:nvSpPr>
          <p:cNvPr id="13" name="Shape 10"/>
          <p:cNvSpPr/>
          <p:nvPr/>
        </p:nvSpPr>
        <p:spPr>
          <a:xfrm>
            <a:off x="5865716" y="1015110"/>
            <a:ext cx="1208605" cy="442913"/>
          </a:xfrm>
          <a:prstGeom prst="rect">
            <a:avLst/>
          </a:prstGeom>
          <a:solidFill>
            <a:srgbClr val="1A1A1A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65716" y="1015110"/>
            <a:ext cx="1208605" cy="442913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kern="0" spc="1" dirty="0">
                <a:solidFill>
                  <a:srgbClr val="FFFFFF"/>
                </a:solidFill>
              </a:rPr>
              <a:t>Avg Price per Unit ($)</a:t>
            </a:r>
            <a:endParaRPr lang="en-US" sz="534" dirty="0"/>
          </a:p>
        </p:txBody>
      </p:sp>
      <p:sp>
        <p:nvSpPr>
          <p:cNvPr id="15" name="Shape 12"/>
          <p:cNvSpPr/>
          <p:nvPr/>
        </p:nvSpPr>
        <p:spPr>
          <a:xfrm>
            <a:off x="7072675" y="1015110"/>
            <a:ext cx="1639128" cy="439341"/>
          </a:xfrm>
          <a:prstGeom prst="rect">
            <a:avLst/>
          </a:prstGeom>
          <a:solidFill>
            <a:srgbClr val="1A1A1A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72675" y="1015110"/>
            <a:ext cx="1639128" cy="439341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kern="0" spc="1" dirty="0">
                <a:solidFill>
                  <a:srgbClr val="FFFFFF"/>
                </a:solidFill>
              </a:rPr>
              <a:t>Key Insight</a:t>
            </a:r>
            <a:endParaRPr lang="en-US" sz="534" dirty="0"/>
          </a:p>
        </p:txBody>
      </p:sp>
      <p:sp>
        <p:nvSpPr>
          <p:cNvPr id="17" name="Shape 14"/>
          <p:cNvSpPr/>
          <p:nvPr/>
        </p:nvSpPr>
        <p:spPr>
          <a:xfrm>
            <a:off x="432197" y="1450879"/>
            <a:ext cx="8279606" cy="43861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21494" y="1604274"/>
            <a:ext cx="108091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Older Families - Budget</a:t>
            </a:r>
            <a:endParaRPr lang="en-US" sz="634" dirty="0"/>
          </a:p>
        </p:txBody>
      </p:sp>
      <p:sp>
        <p:nvSpPr>
          <p:cNvPr id="19" name="Text 16"/>
          <p:cNvSpPr/>
          <p:nvPr/>
        </p:nvSpPr>
        <p:spPr>
          <a:xfrm>
            <a:off x="2297441" y="1604274"/>
            <a:ext cx="4779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E63946"/>
                </a:solidFill>
              </a:rPr>
              <a:t>167,991.15</a:t>
            </a:r>
            <a:endParaRPr lang="en-US" sz="634" dirty="0"/>
          </a:p>
        </p:txBody>
      </p:sp>
      <p:sp>
        <p:nvSpPr>
          <p:cNvPr id="20" name="Text 17"/>
          <p:cNvSpPr/>
          <p:nvPr/>
        </p:nvSpPr>
        <p:spPr>
          <a:xfrm>
            <a:off x="3208186" y="1604274"/>
            <a:ext cx="2383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35.96</a:t>
            </a:r>
            <a:endParaRPr lang="en-US" sz="634" dirty="0"/>
          </a:p>
        </p:txBody>
      </p:sp>
      <p:sp>
        <p:nvSpPr>
          <p:cNvPr id="21" name="Text 18"/>
          <p:cNvSpPr/>
          <p:nvPr/>
        </p:nvSpPr>
        <p:spPr>
          <a:xfrm>
            <a:off x="4734325" y="1604274"/>
            <a:ext cx="2373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4.96x</a:t>
            </a:r>
            <a:endParaRPr lang="en-US" sz="634" dirty="0"/>
          </a:p>
        </p:txBody>
      </p:sp>
      <p:sp>
        <p:nvSpPr>
          <p:cNvPr id="22" name="Text 19"/>
          <p:cNvSpPr/>
          <p:nvPr/>
        </p:nvSpPr>
        <p:spPr>
          <a:xfrm>
            <a:off x="5957776" y="1604274"/>
            <a:ext cx="18529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3.45</a:t>
            </a:r>
            <a:endParaRPr lang="en-US" sz="634" dirty="0"/>
          </a:p>
        </p:txBody>
      </p:sp>
      <p:sp>
        <p:nvSpPr>
          <p:cNvPr id="23" name="Text 20"/>
          <p:cNvSpPr/>
          <p:nvPr/>
        </p:nvSpPr>
        <p:spPr>
          <a:xfrm>
            <a:off x="7161163" y="1547320"/>
            <a:ext cx="1256658" cy="246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i="1" dirty="0">
                <a:solidFill>
                  <a:srgbClr val="666666"/>
                </a:solidFill>
              </a:rPr>
              <a:t>Highest revenue, primary volume engine</a:t>
            </a:r>
            <a:endParaRPr lang="en-US" sz="621" dirty="0"/>
          </a:p>
        </p:txBody>
      </p:sp>
      <p:sp>
        <p:nvSpPr>
          <p:cNvPr id="24" name="Shape 21"/>
          <p:cNvSpPr/>
          <p:nvPr/>
        </p:nvSpPr>
        <p:spPr>
          <a:xfrm>
            <a:off x="432197" y="1889494"/>
            <a:ext cx="8279606" cy="442187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5" name="Text 22"/>
          <p:cNvSpPr/>
          <p:nvPr/>
        </p:nvSpPr>
        <p:spPr>
          <a:xfrm>
            <a:off x="521494" y="1978791"/>
            <a:ext cx="1102649" cy="258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Young Singles/Couples - Mainstream</a:t>
            </a:r>
            <a:endParaRPr lang="en-US" sz="634" dirty="0"/>
          </a:p>
        </p:txBody>
      </p:sp>
      <p:sp>
        <p:nvSpPr>
          <p:cNvPr id="26" name="Text 23"/>
          <p:cNvSpPr/>
          <p:nvPr/>
        </p:nvSpPr>
        <p:spPr>
          <a:xfrm>
            <a:off x="2297441" y="2044675"/>
            <a:ext cx="4779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E63946"/>
                </a:solidFill>
              </a:rPr>
              <a:t>157,410.20</a:t>
            </a:r>
            <a:endParaRPr lang="en-US" sz="634" dirty="0"/>
          </a:p>
        </p:txBody>
      </p:sp>
      <p:sp>
        <p:nvSpPr>
          <p:cNvPr id="27" name="Text 24"/>
          <p:cNvSpPr/>
          <p:nvPr/>
        </p:nvSpPr>
        <p:spPr>
          <a:xfrm>
            <a:off x="3208186" y="2044675"/>
            <a:ext cx="2383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34.42</a:t>
            </a:r>
            <a:endParaRPr lang="en-US" sz="634" dirty="0"/>
          </a:p>
        </p:txBody>
      </p:sp>
      <p:sp>
        <p:nvSpPr>
          <p:cNvPr id="28" name="Text 25"/>
          <p:cNvSpPr/>
          <p:nvPr/>
        </p:nvSpPr>
        <p:spPr>
          <a:xfrm>
            <a:off x="4734325" y="2044675"/>
            <a:ext cx="2373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4.75x</a:t>
            </a:r>
            <a:endParaRPr lang="en-US" sz="634" dirty="0"/>
          </a:p>
        </p:txBody>
      </p:sp>
      <p:sp>
        <p:nvSpPr>
          <p:cNvPr id="29" name="Text 26"/>
          <p:cNvSpPr/>
          <p:nvPr/>
        </p:nvSpPr>
        <p:spPr>
          <a:xfrm>
            <a:off x="5957776" y="2044675"/>
            <a:ext cx="18529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3.77</a:t>
            </a:r>
            <a:endParaRPr lang="en-US" sz="634" dirty="0"/>
          </a:p>
        </p:txBody>
      </p:sp>
      <p:sp>
        <p:nvSpPr>
          <p:cNvPr id="30" name="Text 27"/>
          <p:cNvSpPr/>
          <p:nvPr/>
        </p:nvSpPr>
        <p:spPr>
          <a:xfrm>
            <a:off x="7161163" y="1987721"/>
            <a:ext cx="1091710" cy="246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i="1" dirty="0">
                <a:solidFill>
                  <a:srgbClr val="666666"/>
                </a:solidFill>
              </a:rPr>
              <a:t>Premium preference, margin opportunity</a:t>
            </a:r>
            <a:endParaRPr lang="en-US" sz="621" dirty="0"/>
          </a:p>
        </p:txBody>
      </p:sp>
      <p:sp>
        <p:nvSpPr>
          <p:cNvPr id="31" name="Shape 28"/>
          <p:cNvSpPr/>
          <p:nvPr/>
        </p:nvSpPr>
        <p:spPr>
          <a:xfrm>
            <a:off x="432197" y="2331681"/>
            <a:ext cx="8279606" cy="3103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9"/>
          <p:cNvSpPr/>
          <p:nvPr/>
        </p:nvSpPr>
        <p:spPr>
          <a:xfrm>
            <a:off x="521494" y="2420978"/>
            <a:ext cx="102119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Retirees - Mainstream</a:t>
            </a:r>
            <a:endParaRPr lang="en-US" sz="634" dirty="0"/>
          </a:p>
        </p:txBody>
      </p:sp>
      <p:sp>
        <p:nvSpPr>
          <p:cNvPr id="33" name="Text 30"/>
          <p:cNvSpPr/>
          <p:nvPr/>
        </p:nvSpPr>
        <p:spPr>
          <a:xfrm>
            <a:off x="2297441" y="2420978"/>
            <a:ext cx="4779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E63946"/>
                </a:solidFill>
              </a:rPr>
              <a:t>155,510.35</a:t>
            </a:r>
            <a:endParaRPr lang="en-US" sz="634" dirty="0"/>
          </a:p>
        </p:txBody>
      </p:sp>
      <p:sp>
        <p:nvSpPr>
          <p:cNvPr id="34" name="Text 31"/>
          <p:cNvSpPr/>
          <p:nvPr/>
        </p:nvSpPr>
        <p:spPr>
          <a:xfrm>
            <a:off x="3208186" y="2420978"/>
            <a:ext cx="2383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34.56</a:t>
            </a:r>
            <a:endParaRPr lang="en-US" sz="634" dirty="0"/>
          </a:p>
        </p:txBody>
      </p:sp>
      <p:sp>
        <p:nvSpPr>
          <p:cNvPr id="35" name="Text 32"/>
          <p:cNvSpPr/>
          <p:nvPr/>
        </p:nvSpPr>
        <p:spPr>
          <a:xfrm>
            <a:off x="4734325" y="2420978"/>
            <a:ext cx="2373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4.77x</a:t>
            </a:r>
            <a:endParaRPr lang="en-US" sz="634" dirty="0"/>
          </a:p>
        </p:txBody>
      </p:sp>
      <p:sp>
        <p:nvSpPr>
          <p:cNvPr id="36" name="Text 33"/>
          <p:cNvSpPr/>
          <p:nvPr/>
        </p:nvSpPr>
        <p:spPr>
          <a:xfrm>
            <a:off x="5957776" y="2420978"/>
            <a:ext cx="18529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3.55</a:t>
            </a:r>
            <a:endParaRPr lang="en-US" sz="634" dirty="0"/>
          </a:p>
        </p:txBody>
      </p:sp>
      <p:sp>
        <p:nvSpPr>
          <p:cNvPr id="37" name="Text 34"/>
          <p:cNvSpPr/>
          <p:nvPr/>
        </p:nvSpPr>
        <p:spPr>
          <a:xfrm>
            <a:off x="7161163" y="2429015"/>
            <a:ext cx="143932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i="1" dirty="0">
                <a:solidFill>
                  <a:srgbClr val="666666"/>
                </a:solidFill>
              </a:rPr>
              <a:t>High volume, critical for sustainability</a:t>
            </a:r>
            <a:endParaRPr lang="en-US" sz="621" dirty="0"/>
          </a:p>
        </p:txBody>
      </p:sp>
      <p:sp>
        <p:nvSpPr>
          <p:cNvPr id="38" name="Shape 35"/>
          <p:cNvSpPr/>
          <p:nvPr/>
        </p:nvSpPr>
        <p:spPr>
          <a:xfrm>
            <a:off x="432197" y="2642071"/>
            <a:ext cx="8279606" cy="438615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39" name="Text 36"/>
          <p:cNvSpPr/>
          <p:nvPr/>
        </p:nvSpPr>
        <p:spPr>
          <a:xfrm>
            <a:off x="521494" y="2795467"/>
            <a:ext cx="130669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Older Families - Mainstream</a:t>
            </a:r>
            <a:endParaRPr lang="en-US" sz="634" dirty="0"/>
          </a:p>
        </p:txBody>
      </p:sp>
      <p:sp>
        <p:nvSpPr>
          <p:cNvPr id="40" name="Text 37"/>
          <p:cNvSpPr/>
          <p:nvPr/>
        </p:nvSpPr>
        <p:spPr>
          <a:xfrm>
            <a:off x="2297441" y="2795467"/>
            <a:ext cx="4779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E63946"/>
                </a:solidFill>
              </a:rPr>
              <a:t>154,640.85</a:t>
            </a:r>
            <a:endParaRPr lang="en-US" sz="634" dirty="0"/>
          </a:p>
        </p:txBody>
      </p:sp>
      <p:sp>
        <p:nvSpPr>
          <p:cNvPr id="41" name="Text 38"/>
          <p:cNvSpPr/>
          <p:nvPr/>
        </p:nvSpPr>
        <p:spPr>
          <a:xfrm>
            <a:off x="3208186" y="2795467"/>
            <a:ext cx="2383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36.48</a:t>
            </a:r>
            <a:endParaRPr lang="en-US" sz="634" dirty="0"/>
          </a:p>
        </p:txBody>
      </p:sp>
      <p:sp>
        <p:nvSpPr>
          <p:cNvPr id="42" name="Text 39"/>
          <p:cNvSpPr/>
          <p:nvPr/>
        </p:nvSpPr>
        <p:spPr>
          <a:xfrm>
            <a:off x="4734325" y="2795467"/>
            <a:ext cx="2373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5.03x</a:t>
            </a:r>
            <a:endParaRPr lang="en-US" sz="634" dirty="0"/>
          </a:p>
        </p:txBody>
      </p:sp>
      <p:sp>
        <p:nvSpPr>
          <p:cNvPr id="43" name="Text 40"/>
          <p:cNvSpPr/>
          <p:nvPr/>
        </p:nvSpPr>
        <p:spPr>
          <a:xfrm>
            <a:off x="5957776" y="2795467"/>
            <a:ext cx="18529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3.55</a:t>
            </a:r>
            <a:endParaRPr lang="en-US" sz="634" dirty="0"/>
          </a:p>
        </p:txBody>
      </p:sp>
      <p:sp>
        <p:nvSpPr>
          <p:cNvPr id="44" name="Text 41"/>
          <p:cNvSpPr/>
          <p:nvPr/>
        </p:nvSpPr>
        <p:spPr>
          <a:xfrm>
            <a:off x="7161163" y="2738512"/>
            <a:ext cx="1247645" cy="246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i="1" dirty="0">
                <a:solidFill>
                  <a:srgbClr val="666666"/>
                </a:solidFill>
              </a:rPr>
              <a:t>Highest loyalty metrics, retention focus</a:t>
            </a:r>
            <a:endParaRPr lang="en-US" sz="621" dirty="0"/>
          </a:p>
        </p:txBody>
      </p:sp>
      <p:sp>
        <p:nvSpPr>
          <p:cNvPr id="45" name="Shape 42"/>
          <p:cNvSpPr/>
          <p:nvPr/>
        </p:nvSpPr>
        <p:spPr>
          <a:xfrm>
            <a:off x="432197" y="3080686"/>
            <a:ext cx="8279606" cy="43861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3"/>
          <p:cNvSpPr/>
          <p:nvPr/>
        </p:nvSpPr>
        <p:spPr>
          <a:xfrm>
            <a:off x="521494" y="3234082"/>
            <a:ext cx="11199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New Families - Premium</a:t>
            </a:r>
            <a:endParaRPr lang="en-US" sz="634" dirty="0"/>
          </a:p>
        </p:txBody>
      </p:sp>
      <p:sp>
        <p:nvSpPr>
          <p:cNvPr id="47" name="Text 44"/>
          <p:cNvSpPr/>
          <p:nvPr/>
        </p:nvSpPr>
        <p:spPr>
          <a:xfrm>
            <a:off x="2297441" y="3234082"/>
            <a:ext cx="42480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E63946"/>
                </a:solidFill>
              </a:rPr>
              <a:t>20,410.00</a:t>
            </a:r>
            <a:endParaRPr lang="en-US" sz="634" dirty="0"/>
          </a:p>
        </p:txBody>
      </p:sp>
      <p:sp>
        <p:nvSpPr>
          <p:cNvPr id="48" name="Text 45"/>
          <p:cNvSpPr/>
          <p:nvPr/>
        </p:nvSpPr>
        <p:spPr>
          <a:xfrm>
            <a:off x="3208186" y="3234082"/>
            <a:ext cx="2383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34.50</a:t>
            </a:r>
            <a:endParaRPr lang="en-US" sz="634" dirty="0"/>
          </a:p>
        </p:txBody>
      </p:sp>
      <p:sp>
        <p:nvSpPr>
          <p:cNvPr id="49" name="Text 46"/>
          <p:cNvSpPr/>
          <p:nvPr/>
        </p:nvSpPr>
        <p:spPr>
          <a:xfrm>
            <a:off x="4734325" y="3234082"/>
            <a:ext cx="2373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4.75x</a:t>
            </a:r>
            <a:endParaRPr lang="en-US" sz="634" dirty="0"/>
          </a:p>
        </p:txBody>
      </p:sp>
      <p:sp>
        <p:nvSpPr>
          <p:cNvPr id="50" name="Text 47"/>
          <p:cNvSpPr/>
          <p:nvPr/>
        </p:nvSpPr>
        <p:spPr>
          <a:xfrm>
            <a:off x="5957776" y="3234082"/>
            <a:ext cx="18529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3.31</a:t>
            </a:r>
            <a:endParaRPr lang="en-US" sz="634" dirty="0"/>
          </a:p>
        </p:txBody>
      </p:sp>
      <p:sp>
        <p:nvSpPr>
          <p:cNvPr id="51" name="Text 48"/>
          <p:cNvSpPr/>
          <p:nvPr/>
        </p:nvSpPr>
        <p:spPr>
          <a:xfrm>
            <a:off x="7161163" y="3177127"/>
            <a:ext cx="1219879" cy="246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i="1" dirty="0">
                <a:solidFill>
                  <a:srgbClr val="666666"/>
                </a:solidFill>
              </a:rPr>
              <a:t>Lowest engagement, acquisition target</a:t>
            </a:r>
            <a:endParaRPr lang="en-US" sz="621" dirty="0"/>
          </a:p>
        </p:txBody>
      </p:sp>
      <p:sp>
        <p:nvSpPr>
          <p:cNvPr id="52" name="Shape 49"/>
          <p:cNvSpPr/>
          <p:nvPr/>
        </p:nvSpPr>
        <p:spPr>
          <a:xfrm>
            <a:off x="428625" y="4464844"/>
            <a:ext cx="8286750" cy="2500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428625" y="4464844"/>
            <a:ext cx="82867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4" name="Text 51"/>
          <p:cNvSpPr/>
          <p:nvPr/>
        </p:nvSpPr>
        <p:spPr>
          <a:xfrm>
            <a:off x="428625" y="4464844"/>
            <a:ext cx="8286750" cy="250031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Data Source:</a:t>
            </a:r>
            <a:r>
              <a:rPr lang="en-US" sz="621" dirty="0">
                <a:solidFill>
                  <a:srgbClr val="666666"/>
                </a:solidFill>
              </a:rPr>
              <a:t> Customer Segmentation Analysis (Task 1) | </a:t>
            </a:r>
            <a:r>
              <a:rPr lang="en-US" sz="584" b="1" dirty="0">
                <a:solidFill>
                  <a:srgbClr val="666666"/>
                </a:solidFill>
              </a:rPr>
              <a:t>Period:</a:t>
            </a:r>
            <a:r>
              <a:rPr lang="en-US" sz="621" dirty="0">
                <a:solidFill>
                  <a:srgbClr val="666666"/>
                </a:solidFill>
              </a:rPr>
              <a:t> Historical baseline | </a:t>
            </a:r>
            <a:r>
              <a:rPr lang="en-US" sz="584" b="1" dirty="0">
                <a:solidFill>
                  <a:srgbClr val="666666"/>
                </a:solidFill>
              </a:rPr>
              <a:t>Classification:</a:t>
            </a:r>
            <a:r>
              <a:rPr lang="en-US" sz="621" dirty="0">
                <a:solidFill>
                  <a:srgbClr val="666666"/>
                </a:solidFill>
              </a:rPr>
              <a:t> Confidential</a:t>
            </a:r>
            <a:endParaRPr lang="en-US" sz="584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4629150" cy="4800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kern="0" spc="-1" dirty="0">
                <a:solidFill>
                  <a:srgbClr val="1A1A1A"/>
                </a:solidFill>
              </a:rPr>
              <a:t>Thank You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428625" y="1180142"/>
            <a:ext cx="4629150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Elias Tarekegn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428625" y="1517321"/>
            <a:ext cx="4629150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Retail Analytics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428625" y="1955936"/>
            <a:ext cx="46291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kern="0" spc="1" dirty="0">
                <a:solidFill>
                  <a:srgbClr val="457B9D"/>
                </a:solidFill>
              </a:rPr>
              <a:t>For Questions or Follow-up</a:t>
            </a:r>
            <a:endParaRPr lang="en-US" sz="584" dirty="0"/>
          </a:p>
        </p:txBody>
      </p:sp>
      <p:sp>
        <p:nvSpPr>
          <p:cNvPr id="7" name="Text 4"/>
          <p:cNvSpPr/>
          <p:nvPr/>
        </p:nvSpPr>
        <p:spPr>
          <a:xfrm>
            <a:off x="428625" y="2141674"/>
            <a:ext cx="46291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eliastadele7@gmail.com</a:t>
            </a:r>
            <a:endParaRPr lang="en-US" sz="834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4357688"/>
            <a:ext cx="1510038" cy="3571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20387" y="4564856"/>
            <a:ext cx="13373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Classification: Confidential</a:t>
            </a:r>
            <a:endParaRPr lang="en-US" sz="727" dirty="0"/>
          </a:p>
        </p:txBody>
      </p:sp>
      <p:sp>
        <p:nvSpPr>
          <p:cNvPr id="10" name="Shape 6"/>
          <p:cNvSpPr/>
          <p:nvPr/>
        </p:nvSpPr>
        <p:spPr>
          <a:xfrm>
            <a:off x="5486400" y="0"/>
            <a:ext cx="3657600" cy="36544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0"/>
            <a:ext cx="3657600" cy="3654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1215</Words>
  <Application>Microsoft Office PowerPoint</Application>
  <PresentationFormat>On-screen Show (16:9)</PresentationFormat>
  <Paragraphs>220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2</cp:revision>
  <dcterms:created xsi:type="dcterms:W3CDTF">2025-11-09T19:55:41Z</dcterms:created>
  <dcterms:modified xsi:type="dcterms:W3CDTF">2025-11-09T20:13:02Z</dcterms:modified>
</cp:coreProperties>
</file>