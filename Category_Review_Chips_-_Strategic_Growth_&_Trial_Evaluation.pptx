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629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57B9D"/>
                </a:solidFill>
              </a:rPr>
              <a:t>Nov 2025</a:t>
            </a:r>
            <a:endParaRPr lang="en-US" sz="784" dirty="0"/>
          </a:p>
        </p:txBody>
      </p:sp>
      <p:sp>
        <p:nvSpPr>
          <p:cNvPr id="4" name="Text 1"/>
          <p:cNvSpPr/>
          <p:nvPr/>
        </p:nvSpPr>
        <p:spPr>
          <a:xfrm>
            <a:off x="428625" y="885825"/>
            <a:ext cx="462915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A1A1A"/>
                </a:solidFill>
              </a:rPr>
              <a:t>Category review: Chips - Strategic Growth &amp; Trial Evaluation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3223171"/>
            <a:ext cx="46291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333333"/>
                </a:solidFill>
              </a:rPr>
              <a:t>Insights and Recommendations for the Next Half-Year Strategy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4031810"/>
            <a:ext cx="46291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Retail Analytics, Elias Tarekegn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674747"/>
            <a:ext cx="1510038" cy="3571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20387" y="4881916"/>
            <a:ext cx="1337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Classification: Confidential</a:t>
            </a:r>
            <a:endParaRPr lang="en-US" sz="727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3657600" cy="865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30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 Dual Growth Strategy is Recommended to Maximize Volume and Margin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11538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457B9D"/>
                </a:solidFill>
              </a:rPr>
              <a:t>Strategic Growth (Task 1)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428625" y="1218707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Older Families and Retirees are the volume engine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1450153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Maximize Volume: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Focus on retention and loyalty programs for high-spending, loyal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segments.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428625" y="2185960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457B9D"/>
                </a:solidFill>
              </a:rPr>
              <a:t>Strategic Growth (Task 1)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28625" y="2393128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Young Singles/Couples show premium preferences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28625" y="2624575"/>
            <a:ext cx="40005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Accelerate Margin: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Target this segment with premium products to capitalize on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their willingness to spend.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3360381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457B9D"/>
                </a:solidFill>
              </a:rPr>
              <a:t>Trial Evaluation (Task 2)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3567550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Trials show clear positive impact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3798996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Validate and Scale: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Confirm the trial's effectiveness in driving customer acquisition.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428625" y="4384784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spc="1" kern="0" dirty="0">
                <a:solidFill>
                  <a:srgbClr val="457B9D"/>
                </a:solidFill>
              </a:rPr>
              <a:t>Trial Evaluation (Task 2)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4591952"/>
            <a:ext cx="40005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Store 88 baseline concern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28625" y="4823399"/>
            <a:ext cx="4000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Caution: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Rigorous control store selection is critical for accurate measurement.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718447" y="1015110"/>
            <a:ext cx="3993356" cy="3071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718447" y="1015110"/>
            <a:ext cx="720849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447" y="1015110"/>
            <a:ext cx="720849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Area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5439296" y="1015110"/>
            <a:ext cx="1652271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39296" y="1015110"/>
            <a:ext cx="1652271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Key Insight</a:t>
            </a:r>
            <a:endParaRPr lang="en-US" sz="584" dirty="0"/>
          </a:p>
        </p:txBody>
      </p:sp>
      <p:sp>
        <p:nvSpPr>
          <p:cNvPr id="21" name="Shape 18"/>
          <p:cNvSpPr/>
          <p:nvPr/>
        </p:nvSpPr>
        <p:spPr>
          <a:xfrm>
            <a:off x="7091567" y="1015110"/>
            <a:ext cx="1620236" cy="30718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91567" y="1015110"/>
            <a:ext cx="1620236" cy="307181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Recommendation</a:t>
            </a:r>
            <a:endParaRPr lang="en-US" sz="584" dirty="0"/>
          </a:p>
        </p:txBody>
      </p:sp>
      <p:sp>
        <p:nvSpPr>
          <p:cNvPr id="23" name="Shape 20"/>
          <p:cNvSpPr/>
          <p:nvPr/>
        </p:nvSpPr>
        <p:spPr>
          <a:xfrm>
            <a:off x="4718447" y="1315148"/>
            <a:ext cx="399335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793456" y="1411588"/>
            <a:ext cx="38579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Strategic Growth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5439714" y="1315148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Older Families &amp; Retirees drive 70% of revenue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7093688" y="1315148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Maximize Volume via loyalty programs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4718447" y="1753763"/>
            <a:ext cx="3993356" cy="43861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5"/>
          <p:cNvSpPr/>
          <p:nvPr/>
        </p:nvSpPr>
        <p:spPr>
          <a:xfrm>
            <a:off x="4793456" y="1850203"/>
            <a:ext cx="38579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Strategic Growth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5439714" y="1753763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Young Singles/Couples prefer premium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7093688" y="1753763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Accelerate Margin via premium products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4718447" y="2192378"/>
            <a:ext cx="399335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4793456" y="2353810"/>
            <a:ext cx="5116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Trial (77, 86)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439714" y="2192378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+24.54% and +9.76% sales growth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7093688" y="2192378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Validate and scale customer acquisition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4718447" y="2630993"/>
            <a:ext cx="3993356" cy="43861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3"/>
          <p:cNvSpPr/>
          <p:nvPr/>
        </p:nvSpPr>
        <p:spPr>
          <a:xfrm>
            <a:off x="4793456" y="2792425"/>
            <a:ext cx="3668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Trial (88)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439714" y="2630993"/>
            <a:ext cx="1653973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+47.95% but baseline differs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7093688" y="2630993"/>
            <a:ext cx="1618115" cy="43861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Review control store selection rigorously</a:t>
            </a:r>
            <a:endParaRPr lang="en-US" sz="67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Older Lifestages Dominate the Chip Category Revenue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628650" y="1154413"/>
            <a:ext cx="80867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57B9D"/>
                </a:solidFill>
              </a:rPr>
              <a:t>Over 70% of Total Chip Revenue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 is collectively accounted for by Older Families,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Retirees, and Older Singles/Couples.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28650" y="2057372"/>
            <a:ext cx="80867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Older Families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 are the single largest Lifestage contributor, making them the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primary volume engine for the category.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628650" y="2960331"/>
            <a:ext cx="808672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457B9D"/>
                </a:solidFill>
              </a:rPr>
              <a:t>Young Singles/Couples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 represent a large customer base but have a lower average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spend compared to older groups, suggesting a significant opportunity in frequency </a:t>
            </a:r>
            <a:pPr algn="l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or premiumization.</a:t>
            </a:r>
            <a:endParaRPr lang="en-US" sz="139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91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Top Performing Segments Drive Volume and Loyalty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68726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Older Families - Budget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683051"/>
            <a:ext cx="24050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428625" y="1865216"/>
            <a:ext cx="240504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$167,991.15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2319542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Highest Revenue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428625" y="2476705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Leads in total sales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28625" y="2791030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28625" y="2948192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$35.96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28625" y="3262517"/>
            <a:ext cx="24050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428625" y="3419680"/>
            <a:ext cx="24050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4.96x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28625" y="3876880"/>
            <a:ext cx="2405044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Consistently high average spend and purchase frequency. Highly engaged and loyal customers critical for sustained revenue.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3490894" y="1368726"/>
            <a:ext cx="21764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Young Singles/Couples - Mainstream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3490894" y="1854501"/>
            <a:ext cx="21764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490894" y="2036666"/>
            <a:ext cx="2176472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$157,410.20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3490894" y="2490992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Significant Contributor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3490894" y="2648155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Second highest in sales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3490894" y="2962480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3490894" y="3119642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$34.42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3490894" y="3433967"/>
            <a:ext cx="217647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3490894" y="3591130"/>
            <a:ext cx="21764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4.75x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3490894" y="4048330"/>
            <a:ext cx="2176472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Large customer base with regular purchases. Indicates strong market penetration and loyalty potential.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324591" y="1368726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Retirees - Mainstream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324591" y="1683051"/>
            <a:ext cx="217644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Total Sales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6324591" y="1865216"/>
            <a:ext cx="217644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$155,510.35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324591" y="2319542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High Volume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6324591" y="2476705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Key segment for revenue</a:t>
            </a:r>
            <a:endParaRPr lang="en-US" sz="987" dirty="0"/>
          </a:p>
        </p:txBody>
      </p:sp>
      <p:sp>
        <p:nvSpPr>
          <p:cNvPr id="29" name="Text 26"/>
          <p:cNvSpPr/>
          <p:nvPr/>
        </p:nvSpPr>
        <p:spPr>
          <a:xfrm>
            <a:off x="6324591" y="2791030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Avg Spend per Customer</a:t>
            </a:r>
            <a:endParaRPr lang="en-US" sz="584" dirty="0"/>
          </a:p>
        </p:txBody>
      </p:sp>
      <p:sp>
        <p:nvSpPr>
          <p:cNvPr id="30" name="Text 27"/>
          <p:cNvSpPr/>
          <p:nvPr/>
        </p:nvSpPr>
        <p:spPr>
          <a:xfrm>
            <a:off x="6324591" y="2948192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$34.56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6324591" y="3262517"/>
            <a:ext cx="217644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33333"/>
                </a:solidFill>
              </a:rPr>
              <a:t>Purchase Frequency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6324591" y="3419680"/>
            <a:ext cx="2176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57B9D"/>
                </a:solidFill>
              </a:rPr>
              <a:t>4.77x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6324591" y="3876880"/>
            <a:ext cx="2176444" cy="56792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Another high-volume segment, highlighting the importance of retired customers to the business sustainability.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364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Target Mainstream Young Singles/Couples and Engage New Families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82976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1" kern="0" dirty="0">
                <a:solidFill>
                  <a:srgbClr val="1A1A1A"/>
                </a:solidFill>
              </a:rPr>
              <a:t>Premium Preference in Mainstream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704482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Midage Singles/Couples - Mainstream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911651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57B9D"/>
                </a:solidFill>
              </a:rPr>
              <a:t>$3.82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 avg price per unit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8625" y="2191680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Highest price point among comparable segments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720318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Young Singles/Couples - Mainstream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428625" y="2927486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457B9D"/>
                </a:solidFill>
              </a:rPr>
              <a:t>$3.77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 avg price per unit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8625" y="3207516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Strong willingness to spend on higher-value products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3764728"/>
            <a:ext cx="3964781" cy="9429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3764728"/>
            <a:ext cx="28575" cy="9429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3907603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Key Opportunity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4114772"/>
            <a:ext cx="367903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Mainstream segments show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premium product preference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compared to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Budget and Premium variants, indicating opportunity for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upselling and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margin growth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750594" y="1082976"/>
            <a:ext cx="3964781" cy="29289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spc="1" kern="0" dirty="0">
                <a:solidFill>
                  <a:srgbClr val="1A1A1A"/>
                </a:solidFill>
              </a:rPr>
              <a:t>Underperforming Segment: New Families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750594" y="1704482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Lowest Engagement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750594" y="1911651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Lowest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 total sales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750594" y="2191680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Across Budget, Mainstream, and Premium variants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4750594" y="2720318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Lowest Metrics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750594" y="2927486"/>
            <a:ext cx="3964781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Lowest</a:t>
            </a:r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 avg spend &amp; frequency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750594" y="3207516"/>
            <a:ext cx="396478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Significantly underperforming compared to other lifestages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4750594" y="3764728"/>
            <a:ext cx="3964781" cy="94297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0594" y="3764728"/>
            <a:ext cx="28575" cy="9429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/>
          <p:nvPr/>
        </p:nvSpPr>
        <p:spPr>
          <a:xfrm>
            <a:off x="4893469" y="3907603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Strategic Focus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4893469" y="4114772"/>
            <a:ext cx="367903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tailored campaigns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for New Families with family-sized products,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introductory offers, and promotional bundles to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increase engagement and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basket size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.</a:t>
            </a:r>
            <a:endParaRPr lang="en-US" sz="727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4750594" y="4993453"/>
            <a:ext cx="714375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Focus on Retention, Premiumization, and Targeted Acquisition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82976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1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1214438" y="1082976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Retention &amp; Loyalty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214438" y="1347295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Focus on Retention and Loyalty Programs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1214438" y="1618757"/>
            <a:ext cx="7500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Older Families and Retirees.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Goal: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Maintain their high engagement and spend, securing the category's volume base.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428625" y="2040238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2</a:t>
            </a:r>
            <a:endParaRPr lang="en-US" sz="2862" dirty="0"/>
          </a:p>
        </p:txBody>
      </p:sp>
      <p:sp>
        <p:nvSpPr>
          <p:cNvPr id="9" name="Text 6"/>
          <p:cNvSpPr/>
          <p:nvPr/>
        </p:nvSpPr>
        <p:spPr>
          <a:xfrm>
            <a:off x="1214438" y="2040238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Premiumization Strategy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214438" y="2304557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Investigate and Promote Higher-Value Products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214438" y="2576020"/>
            <a:ext cx="75009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Mainstream Midage and Young Singles/Couples.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Goal: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Capitalize on their preference for higher-priced items to accelerate margin growth.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28625" y="2997501"/>
            <a:ext cx="5715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63946"/>
                </a:solidFill>
              </a:rPr>
              <a:t>3</a:t>
            </a:r>
            <a:endParaRPr lang="en-US" sz="2862" dirty="0"/>
          </a:p>
        </p:txBody>
      </p:sp>
      <p:sp>
        <p:nvSpPr>
          <p:cNvPr id="13" name="Text 10"/>
          <p:cNvSpPr/>
          <p:nvPr/>
        </p:nvSpPr>
        <p:spPr>
          <a:xfrm>
            <a:off x="1214438" y="2997501"/>
            <a:ext cx="7500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Targeted Acquisition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1214438" y="3261820"/>
            <a:ext cx="75009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Develop Tailored Campaigns for New Families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1214438" y="3533282"/>
            <a:ext cx="75009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Target: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New Families (Budget, Mainstream, Premium).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Goal: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Address low engagement with relevant promotions or product bundles (e.g., family-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sized products).</a:t>
            </a:r>
            <a:endParaRPr lang="en-US" sz="7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Trial Effectiveness Driven by Increased Customer Count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08702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Objective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428625" y="1523014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Evaluate the effectiveness of the trial in stores 77, 86, and 88 against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selected control stores during the trial period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57B9D"/>
                </a:solidFill>
              </a:rPr>
              <a:t>(Feb - Apr 2019)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428625" y="215166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Trial Stores &amp; Controls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365977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77 vs. Control Store 50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587433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86 vs. Control Store 155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808889"/>
            <a:ext cx="400050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Store 88 vs. Control Store 79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428625" y="2365977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428625" y="2587433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428625" y="2808889"/>
            <a:ext cx="40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•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428625" y="3244658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Overall Conclusion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428625" y="3458970"/>
            <a:ext cx="4000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trial is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effective in driving sales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, primarily by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increasing the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customer count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in the trial stores. The sales increase in successful stores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was mainly driven by a significant increase in unique customers, with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average transactions per customer remaining stable or slightly 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decreasing.</a:t>
            </a:r>
            <a:endParaRPr lang="en-US" sz="834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101" y="785813"/>
            <a:ext cx="3950047" cy="21430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Clear Positive Impact and Valid Baselines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8279606" cy="335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683009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683009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Store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1110714" y="1015110"/>
            <a:ext cx="1366856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0714" y="1015110"/>
            <a:ext cx="1366856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Control Store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2470175" y="1015110"/>
            <a:ext cx="2379399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175" y="1015110"/>
            <a:ext cx="2379399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Pre-Trial Baseline (P-Value)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847313" y="1015110"/>
            <a:ext cx="1212233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7313" y="1015110"/>
            <a:ext cx="1212233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Sales Impact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6057956" y="1015110"/>
            <a:ext cx="2653847" cy="335756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7956" y="1015110"/>
            <a:ext cx="2653847" cy="33575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Primary Driver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32197" y="1343723"/>
            <a:ext cx="8279606" cy="3578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1494" y="1453558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77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197108" y="1453558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50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2558188" y="1453558"/>
            <a:ext cx="1175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Not statistically different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733558" y="1453558"/>
            <a:ext cx="3787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(0.0758)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941829" y="1449093"/>
            <a:ext cx="4335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+24.54%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6145662" y="1453558"/>
            <a:ext cx="17516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+17.36% increase in customer count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432197" y="1701608"/>
            <a:ext cx="8279606" cy="35788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0"/>
          <p:cNvSpPr/>
          <p:nvPr/>
        </p:nvSpPr>
        <p:spPr>
          <a:xfrm>
            <a:off x="521494" y="1811443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86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1197108" y="1811443"/>
            <a:ext cx="171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155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2558188" y="1811443"/>
            <a:ext cx="11753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Not statistically different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3733558" y="1811443"/>
            <a:ext cx="3787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457B9D"/>
                </a:solidFill>
              </a:rPr>
              <a:t>(0.4836)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4941829" y="1806978"/>
            <a:ext cx="3722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+9.76%</a:t>
            </a:r>
            <a:endParaRPr lang="en-US" sz="734" dirty="0"/>
          </a:p>
        </p:txBody>
      </p:sp>
      <p:sp>
        <p:nvSpPr>
          <p:cNvPr id="28" name="Text 25"/>
          <p:cNvSpPr/>
          <p:nvPr/>
        </p:nvSpPr>
        <p:spPr>
          <a:xfrm>
            <a:off x="6145662" y="1811443"/>
            <a:ext cx="17516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+13.54% increase in customer count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428625" y="2348815"/>
            <a:ext cx="8286750" cy="3286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2348815"/>
            <a:ext cx="8286750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8"/>
          <p:cNvSpPr/>
          <p:nvPr/>
        </p:nvSpPr>
        <p:spPr>
          <a:xfrm>
            <a:off x="600075" y="2491690"/>
            <a:ext cx="8115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E63946"/>
                </a:solidFill>
              </a:rPr>
              <a:t>Insight: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Both stores demonstrate a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57B9D"/>
                </a:solidFill>
              </a:rPr>
              <a:t>clear, attributable positive impact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 from the trial, validating its effectiveness in attracting new customers.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Highest Growth, but Control Validity is a Concern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3993356" cy="5929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498277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498277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Store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926902" y="1015110"/>
            <a:ext cx="723360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6902" y="1015110"/>
            <a:ext cx="723360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Control Store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1643900" y="1015110"/>
            <a:ext cx="971271" cy="592931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3900" y="1015110"/>
            <a:ext cx="971271" cy="59293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Pre-Trial Baseline (P-Value)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2612603" y="1015110"/>
            <a:ext cx="671345" cy="589359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12603" y="1015110"/>
            <a:ext cx="671345" cy="5893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Sales Impact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3283167" y="1015110"/>
            <a:ext cx="1142386" cy="589359"/>
          </a:xfrm>
          <a:prstGeom prst="rect">
            <a:avLst/>
          </a:prstGeom>
          <a:solidFill>
            <a:srgbClr val="F5F5F5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83167" y="1015110"/>
            <a:ext cx="1142386" cy="5893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Primary Driver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432197" y="1600898"/>
            <a:ext cx="3993356" cy="6325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1494" y="1848055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88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012627" y="1848055"/>
            <a:ext cx="1144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79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1730378" y="1706268"/>
            <a:ext cx="586178" cy="41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Statistically Different (0.0000)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702096" y="1843590"/>
            <a:ext cx="43356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+47.95%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3372073" y="1706268"/>
            <a:ext cx="891239" cy="419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+32.19% customer count, +8.12% transactions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28625" y="2379873"/>
            <a:ext cx="4000500" cy="6786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2379873"/>
            <a:ext cx="28575" cy="67865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3" name="Text 20"/>
          <p:cNvSpPr/>
          <p:nvPr/>
        </p:nvSpPr>
        <p:spPr>
          <a:xfrm>
            <a:off x="542925" y="2494173"/>
            <a:ext cx="3771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57B9D"/>
                </a:solidFill>
              </a:rPr>
              <a:t>Key Observation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42925" y="2665623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Store 88 shows the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highest sales growth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among all trial stores, driven by both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increased customer count and higher transaction values.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714875" y="1011538"/>
            <a:ext cx="4000500" cy="1478756"/>
          </a:xfrm>
          <a:prstGeom prst="rect">
            <a:avLst/>
          </a:prstGeom>
          <a:solidFill>
            <a:srgbClr val="FFF8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714875" y="1011538"/>
            <a:ext cx="42863" cy="147875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4"/>
          <p:cNvSpPr/>
          <p:nvPr/>
        </p:nvSpPr>
        <p:spPr>
          <a:xfrm>
            <a:off x="4857750" y="1154413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⚠ Critical Concern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4857750" y="1390157"/>
            <a:ext cx="371475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The statistically different pre-trial baseline suggests the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control store was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not an ideal match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, potentially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skewing the interpretation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 of the high sales 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impact.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4857750" y="1983088"/>
            <a:ext cx="3714750" cy="364331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It's possible that the trial store was already performing significantly better than its chosen control even before the trial began.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4714875" y="2633170"/>
            <a:ext cx="4000500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70" y="2704607"/>
            <a:ext cx="1711682" cy="9286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4714875" y="3847607"/>
            <a:ext cx="4000500" cy="67865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Shape 29"/>
          <p:cNvSpPr/>
          <p:nvPr/>
        </p:nvSpPr>
        <p:spPr>
          <a:xfrm>
            <a:off x="4714875" y="3847607"/>
            <a:ext cx="28575" cy="67865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4" name="Text 30"/>
          <p:cNvSpPr/>
          <p:nvPr/>
        </p:nvSpPr>
        <p:spPr>
          <a:xfrm>
            <a:off x="4829175" y="3961907"/>
            <a:ext cx="37719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57B9D"/>
                </a:solidFill>
              </a:rPr>
              <a:t>Recommendation</a:t>
            </a:r>
            <a:endParaRPr lang="en-US" sz="584" dirty="0"/>
          </a:p>
        </p:txBody>
      </p:sp>
      <p:sp>
        <p:nvSpPr>
          <p:cNvPr id="35" name="Text 31"/>
          <p:cNvSpPr/>
          <p:nvPr/>
        </p:nvSpPr>
        <p:spPr>
          <a:xfrm>
            <a:off x="4829175" y="4133357"/>
            <a:ext cx="37719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Further investigation or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alternative control selection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 is needed to confirm the trial's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true, isolated impact in Store 88.</a:t>
            </a:r>
            <a:endParaRPr lang="en-US" sz="67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48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Dual Strategy and Trial Learnings Will Inform H2 Strategy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23726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Strategic Imperative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428625" y="1451577"/>
            <a:ext cx="4000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Implement the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Dual Growth Strategy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to secure volume from loyal older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segments and accelerate margin from premium-inclined younger segments.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1987358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Trial Validation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201670"/>
            <a:ext cx="4000500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The trial is validated as an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457B9D"/>
                </a:solidFill>
              </a:rPr>
              <a:t>effective customer acquisition tool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, with a clear </a:t>
            </a:r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positive impact in two of three stores.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894614"/>
            <a:ext cx="4000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Next Steps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428625" y="3166077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1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828675" y="3166077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Finalize Strategy Implementation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28675" y="3357507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detailed execution plan for the Dual Growth Strategy across all segments.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800419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2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828675" y="3800419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Review Control Store Selection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28675" y="3991849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Conduct rigorous review of control store methodology for future trials to ensure valid baseline comparisons.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4434762"/>
            <a:ext cx="285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3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828675" y="4434762"/>
            <a:ext cx="36004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Launch New Families Campaigns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828675" y="4626192"/>
            <a:ext cx="36004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Develop and execute targeted campaigns with family-sized products and promotional offers.</a:t>
            </a:r>
            <a:endParaRPr lang="en-US" sz="727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741429"/>
            <a:ext cx="4000500" cy="9462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Metrics from Customer Segmentation Analysis (Task 1)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2197" y="1015110"/>
            <a:ext cx="8279606" cy="4429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32197" y="1015110"/>
            <a:ext cx="1770143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1015110"/>
            <a:ext cx="1770143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Segment</a:t>
            </a:r>
            <a:endParaRPr lang="en-US" sz="534" dirty="0"/>
          </a:p>
        </p:txBody>
      </p:sp>
      <p:sp>
        <p:nvSpPr>
          <p:cNvPr id="7" name="Shape 4"/>
          <p:cNvSpPr/>
          <p:nvPr/>
        </p:nvSpPr>
        <p:spPr>
          <a:xfrm>
            <a:off x="2202340" y="1015110"/>
            <a:ext cx="915432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02340" y="1015110"/>
            <a:ext cx="915432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Total Sales ($)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3115456" y="1015110"/>
            <a:ext cx="1528288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5456" y="1015110"/>
            <a:ext cx="1528288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Avg Spend per Customer ($)</a:t>
            </a:r>
            <a:endParaRPr lang="en-US" sz="534" dirty="0"/>
          </a:p>
        </p:txBody>
      </p:sp>
      <p:sp>
        <p:nvSpPr>
          <p:cNvPr id="11" name="Shape 8"/>
          <p:cNvSpPr/>
          <p:nvPr/>
        </p:nvSpPr>
        <p:spPr>
          <a:xfrm>
            <a:off x="4640145" y="1015110"/>
            <a:ext cx="1228502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0145" y="1015110"/>
            <a:ext cx="1228502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Purchase Frequency</a:t>
            </a:r>
            <a:endParaRPr lang="en-US" sz="534" dirty="0"/>
          </a:p>
        </p:txBody>
      </p:sp>
      <p:sp>
        <p:nvSpPr>
          <p:cNvPr id="13" name="Shape 10"/>
          <p:cNvSpPr/>
          <p:nvPr/>
        </p:nvSpPr>
        <p:spPr>
          <a:xfrm>
            <a:off x="5865716" y="1015110"/>
            <a:ext cx="1208605" cy="442913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65716" y="1015110"/>
            <a:ext cx="1208605" cy="442913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Avg Price per Unit ($)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7072675" y="1015110"/>
            <a:ext cx="1639128" cy="439341"/>
          </a:xfrm>
          <a:prstGeom prst="rect">
            <a:avLst/>
          </a:prstGeom>
          <a:solidFill>
            <a:srgbClr val="1A1A1A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72675" y="1015110"/>
            <a:ext cx="1639128" cy="439341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spc="1" kern="0" dirty="0">
                <a:solidFill>
                  <a:srgbClr val="FFFFFF"/>
                </a:solidFill>
              </a:rPr>
              <a:t>Key Insight</a:t>
            </a:r>
            <a:endParaRPr lang="en-US" sz="534" dirty="0"/>
          </a:p>
        </p:txBody>
      </p:sp>
      <p:sp>
        <p:nvSpPr>
          <p:cNvPr id="17" name="Shape 14"/>
          <p:cNvSpPr/>
          <p:nvPr/>
        </p:nvSpPr>
        <p:spPr>
          <a:xfrm>
            <a:off x="432197" y="1450879"/>
            <a:ext cx="827960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1494" y="1604274"/>
            <a:ext cx="10809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Older Families - Budget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2297441" y="1604274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167,991.15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208186" y="1604274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35.96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4734325" y="1604274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4.96x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5957776" y="1604274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3.45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7161163" y="1547320"/>
            <a:ext cx="1256658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Highest revenue, primary volume engine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432197" y="1889494"/>
            <a:ext cx="8279606" cy="442187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25" name="Text 22"/>
          <p:cNvSpPr/>
          <p:nvPr/>
        </p:nvSpPr>
        <p:spPr>
          <a:xfrm>
            <a:off x="521494" y="1978791"/>
            <a:ext cx="1102649" cy="25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Young Singles/Couples - Mainstream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2297441" y="2044675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157,410.20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3208186" y="2044675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34.42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734325" y="2044675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4.75x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5957776" y="2044675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3.77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7161163" y="1987721"/>
            <a:ext cx="1091710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Premium preference, margin opportunity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432197" y="2331681"/>
            <a:ext cx="8279606" cy="31039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521494" y="2420978"/>
            <a:ext cx="102119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Retirees - Mainstream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2297441" y="2420978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155,510.35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3208186" y="242097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34.56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4734325" y="2420978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4.77x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5957776" y="2420978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3.55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161163" y="2429015"/>
            <a:ext cx="14393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 volume, critical for sustainability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432197" y="2642071"/>
            <a:ext cx="8279606" cy="438615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39" name="Text 36"/>
          <p:cNvSpPr/>
          <p:nvPr/>
        </p:nvSpPr>
        <p:spPr>
          <a:xfrm>
            <a:off x="521494" y="2795467"/>
            <a:ext cx="13066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Older Families - Mainstream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2297441" y="2795467"/>
            <a:ext cx="477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154,640.85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3208186" y="2795467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36.48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4734325" y="2795467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5.03x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5957776" y="2795467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3.55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7161163" y="2738512"/>
            <a:ext cx="1247645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Highest loyalty metrics, retention focus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432197" y="3080686"/>
            <a:ext cx="8279606" cy="43861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3"/>
          <p:cNvSpPr/>
          <p:nvPr/>
        </p:nvSpPr>
        <p:spPr>
          <a:xfrm>
            <a:off x="521494" y="3234082"/>
            <a:ext cx="11199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New Families - Premium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2297441" y="3234082"/>
            <a:ext cx="4248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20,410.00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3208186" y="3234082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34.50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4734325" y="3234082"/>
            <a:ext cx="2373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4.75x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5957776" y="3234082"/>
            <a:ext cx="18529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57B9D"/>
                </a:solidFill>
              </a:rPr>
              <a:t>3.31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7161163" y="3177127"/>
            <a:ext cx="1219879" cy="246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i="1" dirty="0">
                <a:solidFill>
                  <a:srgbClr val="666666"/>
                </a:solidFill>
              </a:rPr>
              <a:t>Lowest engagement, acquisition target</a:t>
            </a:r>
            <a:endParaRPr lang="en-US" sz="621" dirty="0"/>
          </a:p>
        </p:txBody>
      </p:sp>
      <p:sp>
        <p:nvSpPr>
          <p:cNvPr id="52" name="Shape 49"/>
          <p:cNvSpPr/>
          <p:nvPr/>
        </p:nvSpPr>
        <p:spPr>
          <a:xfrm>
            <a:off x="428625" y="4464844"/>
            <a:ext cx="8286750" cy="2500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28625" y="4464844"/>
            <a:ext cx="8286750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4" name="Text 51"/>
          <p:cNvSpPr/>
          <p:nvPr/>
        </p:nvSpPr>
        <p:spPr>
          <a:xfrm>
            <a:off x="428625" y="4464844"/>
            <a:ext cx="8286750" cy="250031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Data Source: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 Customer Segmentation Analysis (Task 1) |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Period: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 Historical baseline | 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Classification: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 Confidential</a:t>
            </a:r>
            <a:endParaRPr lang="en-US" sz="5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629150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spc="-1" kern="0" dirty="0">
                <a:solidFill>
                  <a:srgbClr val="1A1A1A"/>
                </a:solidFill>
              </a:rPr>
              <a:t>Thank You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428625" y="1180142"/>
            <a:ext cx="4629150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Elias Tarekegn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1517321"/>
            <a:ext cx="462915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Retail Analytics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955936"/>
            <a:ext cx="46291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spc="1" kern="0" dirty="0">
                <a:solidFill>
                  <a:srgbClr val="457B9D"/>
                </a:solidFill>
              </a:rPr>
              <a:t>For Questions or Follow-up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428625" y="2141674"/>
            <a:ext cx="4629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eliastadele7@gmail.com</a:t>
            </a:r>
            <a:endParaRPr lang="en-US" sz="83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357688"/>
            <a:ext cx="1510038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20387" y="4564856"/>
            <a:ext cx="13373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Classification: Confidential</a:t>
            </a:r>
            <a:endParaRPr lang="en-US" sz="727" dirty="0"/>
          </a:p>
        </p:txBody>
      </p:sp>
      <p:sp>
        <p:nvSpPr>
          <p:cNvPr id="10" name="Shape 6"/>
          <p:cNvSpPr/>
          <p:nvPr/>
        </p:nvSpPr>
        <p:spPr>
          <a:xfrm>
            <a:off x="5486400" y="0"/>
            <a:ext cx="3657600" cy="36544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0"/>
            <a:ext cx="3657600" cy="3654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2025-11-09T19:55:41Z</dcterms:created>
  <dcterms:modified xsi:type="dcterms:W3CDTF">2025-11-09T19:55:41Z</dcterms:modified>
</cp:coreProperties>
</file>